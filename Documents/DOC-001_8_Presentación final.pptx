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8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Tecnologías por capa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562A2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501B-43A2-A6AA-C6B4CE307E7F}"/>
              </c:ext>
            </c:extLst>
          </c:dPt>
          <c:dPt>
            <c:idx val="1"/>
            <c:bubble3D val="0"/>
            <c:spPr>
              <a:solidFill>
                <a:srgbClr val="F3961C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501B-43A2-A6AA-C6B4CE307E7F}"/>
              </c:ext>
            </c:extLst>
          </c:dPt>
          <c:dPt>
            <c:idx val="2"/>
            <c:bubble3D val="0"/>
            <c:spPr>
              <a:solidFill>
                <a:srgbClr val="69B6E6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501B-43A2-A6AA-C6B4CE307E7F}"/>
              </c:ext>
            </c:extLst>
          </c:dPt>
          <c:dPt>
            <c:idx val="3"/>
            <c:bubble3D val="0"/>
            <c:spPr>
              <a:solidFill>
                <a:srgbClr val="5B8C30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501B-43A2-A6AA-C6B4CE307E7F}"/>
              </c:ext>
            </c:extLst>
          </c:dPt>
          <c:dPt>
            <c:idx val="4"/>
            <c:bubble3D val="0"/>
            <c:spPr>
              <a:solidFill>
                <a:srgbClr val="EACA29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9-501B-43A2-A6AA-C6B4CE307E7F}"/>
              </c:ext>
            </c:extLst>
          </c:dPt>
          <c:cat>
            <c:strRef>
              <c:f>Sheet1!$A$2:$A$6</c:f>
              <c:strCache>
                <c:ptCount val="5"/>
                <c:pt idx="0">
                  <c:v>Móvil (React Native/Expo)</c:v>
                </c:pt>
                <c:pt idx="1">
                  <c:v>Backend (Spring Boot/Java)</c:v>
                </c:pt>
                <c:pt idx="2">
                  <c:v>Frontend web (React/TS)</c:v>
                </c:pt>
                <c:pt idx="3">
                  <c:v>Base de datos (SQL Server)</c:v>
                </c:pt>
                <c:pt idx="4">
                  <c:v>Seguridad e integraciones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26</c:v>
                </c:pt>
                <c:pt idx="2">
                  <c:v>22</c:v>
                </c:pt>
                <c:pt idx="3">
                  <c:v>12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01B-43A2-A6AA-C6B4CE307E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Cumplimiento</c:v>
                </c:pt>
              </c:strCache>
            </c:strRef>
          </c:tx>
          <c:spPr>
            <a:solidFill>
              <a:srgbClr val="69B6E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562A2"/>
                    </a:solidFill>
                    <a:latin typeface="Arial"/>
                  </a:defRPr>
                </a:pPr>
                <a:endParaRPr lang="es-NI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Plataforma web + móvil</c:v>
                </c:pt>
                <c:pt idx="1">
                  <c:v>Mapa y rutas</c:v>
                </c:pt>
                <c:pt idx="2">
                  <c:v>Agenda de eventos</c:v>
                </c:pt>
                <c:pt idx="3">
                  <c:v>Directorio</c:v>
                </c:pt>
                <c:pt idx="4">
                  <c:v>Comunidad</c:v>
                </c:pt>
                <c:pt idx="5">
                  <c:v>Seguridad y admin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100</c:v>
                </c:pt>
                <c:pt idx="2">
                  <c:v>95</c:v>
                </c:pt>
                <c:pt idx="3">
                  <c:v>95</c:v>
                </c:pt>
                <c:pt idx="4">
                  <c:v>92</c:v>
                </c:pt>
                <c:pt idx="5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38-4A7E-8B48-8DF43AEAC17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D24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2192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31949" cy="82296"/>
          </a:xfrm>
          <a:prstGeom prst="rect">
            <a:avLst/>
          </a:prstGeom>
          <a:solidFill>
            <a:srgbClr val="69B6E6"/>
          </a:solidFill>
          <a:ln w="12700">
            <a:solidFill>
              <a:srgbClr val="69B6E6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3" name="Shape 1"/>
          <p:cNvSpPr/>
          <p:nvPr/>
        </p:nvSpPr>
        <p:spPr>
          <a:xfrm>
            <a:off x="2031949" y="0"/>
            <a:ext cx="2031949" cy="82296"/>
          </a:xfrm>
          <a:prstGeom prst="rect">
            <a:avLst/>
          </a:prstGeom>
          <a:solidFill>
            <a:srgbClr val="1562A2"/>
          </a:solidFill>
          <a:ln w="12700">
            <a:solidFill>
              <a:srgbClr val="1562A2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4" name="Shape 2"/>
          <p:cNvSpPr/>
          <p:nvPr/>
        </p:nvSpPr>
        <p:spPr>
          <a:xfrm>
            <a:off x="4063898" y="0"/>
            <a:ext cx="2031949" cy="82296"/>
          </a:xfrm>
          <a:prstGeom prst="rect">
            <a:avLst/>
          </a:prstGeom>
          <a:solidFill>
            <a:srgbClr val="5B8C30"/>
          </a:solidFill>
          <a:ln w="12700">
            <a:solidFill>
              <a:srgbClr val="5B8C30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5" name="Shape 3"/>
          <p:cNvSpPr/>
          <p:nvPr/>
        </p:nvSpPr>
        <p:spPr>
          <a:xfrm>
            <a:off x="6095848" y="0"/>
            <a:ext cx="2031949" cy="82296"/>
          </a:xfrm>
          <a:prstGeom prst="rect">
            <a:avLst/>
          </a:prstGeom>
          <a:solidFill>
            <a:srgbClr val="EACA29"/>
          </a:solidFill>
          <a:ln w="12700">
            <a:solidFill>
              <a:srgbClr val="EACA29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6" name="Shape 4"/>
          <p:cNvSpPr/>
          <p:nvPr/>
        </p:nvSpPr>
        <p:spPr>
          <a:xfrm>
            <a:off x="8127797" y="0"/>
            <a:ext cx="2031949" cy="82296"/>
          </a:xfrm>
          <a:prstGeom prst="rect">
            <a:avLst/>
          </a:prstGeom>
          <a:solidFill>
            <a:srgbClr val="F3961C"/>
          </a:solidFill>
          <a:ln w="12700">
            <a:solidFill>
              <a:srgbClr val="F3961C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7" name="Shape 5"/>
          <p:cNvSpPr/>
          <p:nvPr/>
        </p:nvSpPr>
        <p:spPr>
          <a:xfrm>
            <a:off x="10159746" y="0"/>
            <a:ext cx="2031949" cy="82296"/>
          </a:xfrm>
          <a:prstGeom prst="rect">
            <a:avLst/>
          </a:prstGeom>
          <a:solidFill>
            <a:srgbClr val="895738"/>
          </a:solidFill>
          <a:ln w="12700">
            <a:solidFill>
              <a:srgbClr val="895738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8" name="Shape 6"/>
          <p:cNvSpPr/>
          <p:nvPr/>
        </p:nvSpPr>
        <p:spPr>
          <a:xfrm>
            <a:off x="0" y="82296"/>
            <a:ext cx="12191695" cy="6775704"/>
          </a:xfrm>
          <a:prstGeom prst="rect">
            <a:avLst/>
          </a:prstGeom>
          <a:solidFill>
            <a:srgbClr val="0F2E4C"/>
          </a:solidFill>
          <a:ln w="12700">
            <a:solidFill>
              <a:srgbClr val="0F2E4C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9" name="Shape 7"/>
          <p:cNvSpPr/>
          <p:nvPr/>
        </p:nvSpPr>
        <p:spPr>
          <a:xfrm>
            <a:off x="8778240" y="-1463040"/>
            <a:ext cx="5669280" cy="5669280"/>
          </a:xfrm>
          <a:prstGeom prst="ellipse">
            <a:avLst/>
          </a:prstGeom>
          <a:solidFill>
            <a:srgbClr val="1562A2">
              <a:alpha val="45000"/>
            </a:srgbClr>
          </a:solidFill>
          <a:ln w="12700">
            <a:solidFill>
              <a:srgbClr val="1562A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0" name="Shape 8"/>
          <p:cNvSpPr/>
          <p:nvPr/>
        </p:nvSpPr>
        <p:spPr>
          <a:xfrm>
            <a:off x="10515600" y="3840480"/>
            <a:ext cx="4023360" cy="4023360"/>
          </a:xfrm>
          <a:prstGeom prst="ellipse">
            <a:avLst/>
          </a:prstGeom>
          <a:solidFill>
            <a:srgbClr val="69B6E6">
              <a:alpha val="22000"/>
            </a:srgbClr>
          </a:solidFill>
          <a:ln w="12700">
            <a:solidFill>
              <a:srgbClr val="69B6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1" name="Text 9"/>
          <p:cNvSpPr/>
          <p:nvPr/>
        </p:nvSpPr>
        <p:spPr>
          <a:xfrm>
            <a:off x="82296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9B6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DOC-001.8 · PRESENTACIÓN FINAL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14173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Wani Connect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841248" y="248716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7E4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Exploración y conexión con las Ciudades Creativas de Nicaragua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59536" y="3127248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B7C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Aplicación móvil (Android · iOS · Web)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B7C6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Mapa interactivo · Rutas · Eventos · Emprendimientos · Comunidad de fotos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59536" y="4251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ACA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Proyecto de software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59536" y="4709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Proyecto: The-Stallions  |  v1.0.0 (Movil)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2041093" cy="320040"/>
          </a:xfrm>
          <a:prstGeom prst="rect">
            <a:avLst/>
          </a:prstGeom>
          <a:solidFill>
            <a:srgbClr val="69B6E6"/>
          </a:solidFill>
          <a:ln w="12700">
            <a:solidFill>
              <a:srgbClr val="69B6E6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8" name="Shape 16"/>
          <p:cNvSpPr/>
          <p:nvPr/>
        </p:nvSpPr>
        <p:spPr>
          <a:xfrm>
            <a:off x="2031949" y="6537960"/>
            <a:ext cx="2041093" cy="320040"/>
          </a:xfrm>
          <a:prstGeom prst="rect">
            <a:avLst/>
          </a:prstGeom>
          <a:solidFill>
            <a:srgbClr val="1562A2"/>
          </a:solidFill>
          <a:ln w="12700">
            <a:solidFill>
              <a:srgbClr val="1562A2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9" name="Shape 17"/>
          <p:cNvSpPr/>
          <p:nvPr/>
        </p:nvSpPr>
        <p:spPr>
          <a:xfrm>
            <a:off x="4063898" y="6537960"/>
            <a:ext cx="2041093" cy="320040"/>
          </a:xfrm>
          <a:prstGeom prst="rect">
            <a:avLst/>
          </a:prstGeom>
          <a:solidFill>
            <a:srgbClr val="5B8C30"/>
          </a:solidFill>
          <a:ln w="12700">
            <a:solidFill>
              <a:srgbClr val="5B8C30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20" name="Shape 18"/>
          <p:cNvSpPr/>
          <p:nvPr/>
        </p:nvSpPr>
        <p:spPr>
          <a:xfrm>
            <a:off x="6095848" y="6537960"/>
            <a:ext cx="2041093" cy="320040"/>
          </a:xfrm>
          <a:prstGeom prst="rect">
            <a:avLst/>
          </a:prstGeom>
          <a:solidFill>
            <a:srgbClr val="EACA29"/>
          </a:solidFill>
          <a:ln w="12700">
            <a:solidFill>
              <a:srgbClr val="EACA29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21" name="Shape 19"/>
          <p:cNvSpPr/>
          <p:nvPr/>
        </p:nvSpPr>
        <p:spPr>
          <a:xfrm>
            <a:off x="8127797" y="6537960"/>
            <a:ext cx="2041093" cy="320040"/>
          </a:xfrm>
          <a:prstGeom prst="rect">
            <a:avLst/>
          </a:prstGeom>
          <a:solidFill>
            <a:srgbClr val="F3961C"/>
          </a:solidFill>
          <a:ln w="12700">
            <a:solidFill>
              <a:srgbClr val="F3961C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22" name="Shape 20"/>
          <p:cNvSpPr/>
          <p:nvPr/>
        </p:nvSpPr>
        <p:spPr>
          <a:xfrm>
            <a:off x="10159746" y="6537960"/>
            <a:ext cx="2041093" cy="320040"/>
          </a:xfrm>
          <a:prstGeom prst="rect">
            <a:avLst/>
          </a:prstGeom>
          <a:solidFill>
            <a:srgbClr val="895738"/>
          </a:solidFill>
          <a:ln w="12700">
            <a:solidFill>
              <a:srgbClr val="895738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31949" cy="82296"/>
          </a:xfrm>
          <a:prstGeom prst="rect">
            <a:avLst/>
          </a:prstGeom>
          <a:solidFill>
            <a:srgbClr val="69B6E6"/>
          </a:solidFill>
          <a:ln w="12700">
            <a:solidFill>
              <a:srgbClr val="69B6E6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3" name="Shape 1"/>
          <p:cNvSpPr/>
          <p:nvPr/>
        </p:nvSpPr>
        <p:spPr>
          <a:xfrm>
            <a:off x="2031949" y="0"/>
            <a:ext cx="2031949" cy="82296"/>
          </a:xfrm>
          <a:prstGeom prst="rect">
            <a:avLst/>
          </a:prstGeom>
          <a:solidFill>
            <a:srgbClr val="1562A2"/>
          </a:solidFill>
          <a:ln w="12700">
            <a:solidFill>
              <a:srgbClr val="1562A2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4" name="Shape 2"/>
          <p:cNvSpPr/>
          <p:nvPr/>
        </p:nvSpPr>
        <p:spPr>
          <a:xfrm>
            <a:off x="4063898" y="0"/>
            <a:ext cx="2031949" cy="82296"/>
          </a:xfrm>
          <a:prstGeom prst="rect">
            <a:avLst/>
          </a:prstGeom>
          <a:solidFill>
            <a:srgbClr val="5B8C30"/>
          </a:solidFill>
          <a:ln w="12700">
            <a:solidFill>
              <a:srgbClr val="5B8C30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5" name="Shape 3"/>
          <p:cNvSpPr/>
          <p:nvPr/>
        </p:nvSpPr>
        <p:spPr>
          <a:xfrm>
            <a:off x="6095848" y="0"/>
            <a:ext cx="2031949" cy="82296"/>
          </a:xfrm>
          <a:prstGeom prst="rect">
            <a:avLst/>
          </a:prstGeom>
          <a:solidFill>
            <a:srgbClr val="EACA29"/>
          </a:solidFill>
          <a:ln w="12700">
            <a:solidFill>
              <a:srgbClr val="EACA29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6" name="Shape 4"/>
          <p:cNvSpPr/>
          <p:nvPr/>
        </p:nvSpPr>
        <p:spPr>
          <a:xfrm>
            <a:off x="8127797" y="0"/>
            <a:ext cx="2031949" cy="82296"/>
          </a:xfrm>
          <a:prstGeom prst="rect">
            <a:avLst/>
          </a:prstGeom>
          <a:solidFill>
            <a:srgbClr val="F3961C"/>
          </a:solidFill>
          <a:ln w="12700">
            <a:solidFill>
              <a:srgbClr val="F3961C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7" name="Shape 5"/>
          <p:cNvSpPr/>
          <p:nvPr/>
        </p:nvSpPr>
        <p:spPr>
          <a:xfrm>
            <a:off x="10159746" y="0"/>
            <a:ext cx="2031949" cy="82296"/>
          </a:xfrm>
          <a:prstGeom prst="rect">
            <a:avLst/>
          </a:prstGeom>
          <a:solidFill>
            <a:srgbClr val="895738"/>
          </a:solidFill>
          <a:ln w="12700">
            <a:solidFill>
              <a:srgbClr val="895738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8" name="Text 6"/>
          <p:cNvSpPr/>
          <p:nvPr/>
        </p:nvSpPr>
        <p:spPr>
          <a:xfrm>
            <a:off x="502920" y="38404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396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CONTENIDO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15974" y="6455664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Wani Connect · Presentación final del proyecto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0" y="645566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15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464458" y="1073028"/>
            <a:ext cx="868680" cy="566928"/>
          </a:xfrm>
          <a:prstGeom prst="roundRect">
            <a:avLst>
              <a:gd name="adj" fmla="val 19355"/>
            </a:avLst>
          </a:prstGeom>
          <a:solidFill>
            <a:srgbClr val="69B6E6"/>
          </a:solidFill>
          <a:ln w="12700">
            <a:solidFill>
              <a:srgbClr val="69B6E6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3" name="Text 11"/>
          <p:cNvSpPr/>
          <p:nvPr/>
        </p:nvSpPr>
        <p:spPr>
          <a:xfrm>
            <a:off x="1464458" y="1073028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516018" y="1073028"/>
            <a:ext cx="61950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7DCE4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5" name="Text 13"/>
          <p:cNvSpPr/>
          <p:nvPr/>
        </p:nvSpPr>
        <p:spPr>
          <a:xfrm>
            <a:off x="2744618" y="1073028"/>
            <a:ext cx="6024677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Introducción y problemática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1464458" y="1822836"/>
            <a:ext cx="868680" cy="566928"/>
          </a:xfrm>
          <a:prstGeom prst="roundRect">
            <a:avLst>
              <a:gd name="adj" fmla="val 19355"/>
            </a:avLst>
          </a:prstGeom>
          <a:solidFill>
            <a:srgbClr val="1562A2"/>
          </a:solidFill>
          <a:ln w="12700">
            <a:solidFill>
              <a:srgbClr val="1562A2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7" name="Text 15"/>
          <p:cNvSpPr/>
          <p:nvPr/>
        </p:nvSpPr>
        <p:spPr>
          <a:xfrm>
            <a:off x="1464458" y="1822836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516018" y="1822836"/>
            <a:ext cx="61950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7DCE4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9" name="Text 17"/>
          <p:cNvSpPr/>
          <p:nvPr/>
        </p:nvSpPr>
        <p:spPr>
          <a:xfrm>
            <a:off x="2744618" y="1822836"/>
            <a:ext cx="5257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Objetivos y alcance del proyecto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1464458" y="2572644"/>
            <a:ext cx="868680" cy="566928"/>
          </a:xfrm>
          <a:prstGeom prst="roundRect">
            <a:avLst>
              <a:gd name="adj" fmla="val 19355"/>
            </a:avLst>
          </a:prstGeom>
          <a:solidFill>
            <a:srgbClr val="5B8C30"/>
          </a:solidFill>
          <a:ln w="12700">
            <a:solidFill>
              <a:srgbClr val="5B8C30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21" name="Text 19"/>
          <p:cNvSpPr/>
          <p:nvPr/>
        </p:nvSpPr>
        <p:spPr>
          <a:xfrm>
            <a:off x="1464458" y="2572644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2516018" y="2572644"/>
            <a:ext cx="61950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7DCE4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23" name="Text 21"/>
          <p:cNvSpPr/>
          <p:nvPr/>
        </p:nvSpPr>
        <p:spPr>
          <a:xfrm>
            <a:off x="2744618" y="2572644"/>
            <a:ext cx="4907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Arquitectura y tecnologías utilizadas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1464458" y="3322452"/>
            <a:ext cx="868680" cy="566928"/>
          </a:xfrm>
          <a:prstGeom prst="roundRect">
            <a:avLst>
              <a:gd name="adj" fmla="val 19355"/>
            </a:avLst>
          </a:prstGeom>
          <a:solidFill>
            <a:srgbClr val="EACA29"/>
          </a:solidFill>
          <a:ln w="12700">
            <a:solidFill>
              <a:srgbClr val="EACA29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25" name="Text 23"/>
          <p:cNvSpPr/>
          <p:nvPr/>
        </p:nvSpPr>
        <p:spPr>
          <a:xfrm>
            <a:off x="1464458" y="3322452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2516018" y="3322452"/>
            <a:ext cx="61950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7DCE4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27" name="Text 25"/>
          <p:cNvSpPr/>
          <p:nvPr/>
        </p:nvSpPr>
        <p:spPr>
          <a:xfrm>
            <a:off x="2744618" y="3322452"/>
            <a:ext cx="5013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Funcionalidades web, móvil y demostración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1464458" y="4072260"/>
            <a:ext cx="868680" cy="566928"/>
          </a:xfrm>
          <a:prstGeom prst="roundRect">
            <a:avLst>
              <a:gd name="adj" fmla="val 19355"/>
            </a:avLst>
          </a:prstGeom>
          <a:solidFill>
            <a:srgbClr val="F3961C"/>
          </a:solidFill>
          <a:ln w="12700">
            <a:solidFill>
              <a:srgbClr val="F3961C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29" name="Text 27"/>
          <p:cNvSpPr/>
          <p:nvPr/>
        </p:nvSpPr>
        <p:spPr>
          <a:xfrm>
            <a:off x="1464458" y="4072260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2516018" y="4072260"/>
            <a:ext cx="61950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7DCE4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31" name="Text 29"/>
          <p:cNvSpPr/>
          <p:nvPr/>
        </p:nvSpPr>
        <p:spPr>
          <a:xfrm>
            <a:off x="2744618" y="4072260"/>
            <a:ext cx="545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Seguridad e integración (JWT · OAuth · Firebase)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1464458" y="4799208"/>
            <a:ext cx="868680" cy="566928"/>
          </a:xfrm>
          <a:prstGeom prst="roundRect">
            <a:avLst>
              <a:gd name="adj" fmla="val 19355"/>
            </a:avLst>
          </a:prstGeom>
          <a:solidFill>
            <a:srgbClr val="895738"/>
          </a:solidFill>
          <a:ln w="12700">
            <a:solidFill>
              <a:srgbClr val="895738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33" name="Text 31"/>
          <p:cNvSpPr/>
          <p:nvPr/>
        </p:nvSpPr>
        <p:spPr>
          <a:xfrm>
            <a:off x="1464458" y="4822068"/>
            <a:ext cx="868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2516018" y="4822068"/>
            <a:ext cx="61950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7DCE4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35" name="Text 33"/>
          <p:cNvSpPr/>
          <p:nvPr/>
        </p:nvSpPr>
        <p:spPr>
          <a:xfrm>
            <a:off x="2744618" y="4822068"/>
            <a:ext cx="5455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Resultados, dificultades y trabajo futuro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31949" cy="82296"/>
          </a:xfrm>
          <a:prstGeom prst="rect">
            <a:avLst/>
          </a:prstGeom>
          <a:solidFill>
            <a:srgbClr val="69B6E6"/>
          </a:solidFill>
          <a:ln w="12700">
            <a:solidFill>
              <a:srgbClr val="69B6E6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3" name="Shape 1"/>
          <p:cNvSpPr/>
          <p:nvPr/>
        </p:nvSpPr>
        <p:spPr>
          <a:xfrm>
            <a:off x="2031949" y="0"/>
            <a:ext cx="2031949" cy="82296"/>
          </a:xfrm>
          <a:prstGeom prst="rect">
            <a:avLst/>
          </a:prstGeom>
          <a:solidFill>
            <a:srgbClr val="1562A2"/>
          </a:solidFill>
          <a:ln w="12700">
            <a:solidFill>
              <a:srgbClr val="1562A2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4" name="Shape 2"/>
          <p:cNvSpPr/>
          <p:nvPr/>
        </p:nvSpPr>
        <p:spPr>
          <a:xfrm>
            <a:off x="4063898" y="0"/>
            <a:ext cx="2031949" cy="82296"/>
          </a:xfrm>
          <a:prstGeom prst="rect">
            <a:avLst/>
          </a:prstGeom>
          <a:solidFill>
            <a:srgbClr val="5B8C30"/>
          </a:solidFill>
          <a:ln w="12700">
            <a:solidFill>
              <a:srgbClr val="5B8C30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5" name="Shape 3"/>
          <p:cNvSpPr/>
          <p:nvPr/>
        </p:nvSpPr>
        <p:spPr>
          <a:xfrm>
            <a:off x="6095848" y="0"/>
            <a:ext cx="2031949" cy="82296"/>
          </a:xfrm>
          <a:prstGeom prst="rect">
            <a:avLst/>
          </a:prstGeom>
          <a:solidFill>
            <a:srgbClr val="EACA29"/>
          </a:solidFill>
          <a:ln w="12700">
            <a:solidFill>
              <a:srgbClr val="EACA29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6" name="Shape 4"/>
          <p:cNvSpPr/>
          <p:nvPr/>
        </p:nvSpPr>
        <p:spPr>
          <a:xfrm>
            <a:off x="8127797" y="0"/>
            <a:ext cx="2031949" cy="82296"/>
          </a:xfrm>
          <a:prstGeom prst="rect">
            <a:avLst/>
          </a:prstGeom>
          <a:solidFill>
            <a:srgbClr val="F3961C"/>
          </a:solidFill>
          <a:ln w="12700">
            <a:solidFill>
              <a:srgbClr val="F3961C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7" name="Shape 5"/>
          <p:cNvSpPr/>
          <p:nvPr/>
        </p:nvSpPr>
        <p:spPr>
          <a:xfrm>
            <a:off x="10159746" y="0"/>
            <a:ext cx="2031949" cy="82296"/>
          </a:xfrm>
          <a:prstGeom prst="rect">
            <a:avLst/>
          </a:prstGeom>
          <a:solidFill>
            <a:srgbClr val="895738"/>
          </a:solidFill>
          <a:ln w="12700">
            <a:solidFill>
              <a:srgbClr val="895738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8" name="Text 6"/>
          <p:cNvSpPr/>
          <p:nvPr/>
        </p:nvSpPr>
        <p:spPr>
          <a:xfrm>
            <a:off x="502920" y="38404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396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79120" y="96012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562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Introducción y problemática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3822" y="6455664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Wani Connect · Presentación final del proyecto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0" y="645566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15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7408" y="1719072"/>
            <a:ext cx="7799832" cy="566928"/>
          </a:xfrm>
          <a:prstGeom prst="roundRect">
            <a:avLst>
              <a:gd name="adj" fmla="val 19355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3" name="Text 11"/>
          <p:cNvSpPr/>
          <p:nvPr/>
        </p:nvSpPr>
        <p:spPr>
          <a:xfrm>
            <a:off x="807720" y="1719072"/>
            <a:ext cx="7665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562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red de 10 Ciudades Creativas reconocida por INTUR (Bluefields, Estelí, Granada, Juigalpa, León, Managua, Masaya, Matagalpa, Nagarote, San Juan de Oriente).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7720" y="2587752"/>
            <a:ext cx="7589520" cy="22677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Patrimonio cultural y gastronómico disperso, sin canal digital unificado.</a:t>
            </a:r>
            <a:endParaRPr lang="en-US" sz="140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Emprendedores locales sin visibilidad ni directorio accesible para visitantes.</a:t>
            </a:r>
            <a:endParaRPr lang="en-US" sz="140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Eventos culturales sin difusión centralizada ni recordatorios oportunos.</a:t>
            </a:r>
            <a:endParaRPr lang="en-US" sz="140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Falta de un punto único para explorar el país: mapas, rutas, eventos y comunidad.</a:t>
            </a:r>
            <a:endParaRPr lang="en-US" sz="140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5B8C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Solución: plataforma móvil que conecta con el patrimonio y la economía creativa.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31949" cy="82296"/>
          </a:xfrm>
          <a:prstGeom prst="rect">
            <a:avLst/>
          </a:prstGeom>
          <a:solidFill>
            <a:srgbClr val="69B6E6"/>
          </a:solidFill>
          <a:ln w="12700">
            <a:solidFill>
              <a:srgbClr val="69B6E6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3" name="Shape 1"/>
          <p:cNvSpPr/>
          <p:nvPr/>
        </p:nvSpPr>
        <p:spPr>
          <a:xfrm>
            <a:off x="2031949" y="0"/>
            <a:ext cx="2031949" cy="82296"/>
          </a:xfrm>
          <a:prstGeom prst="rect">
            <a:avLst/>
          </a:prstGeom>
          <a:solidFill>
            <a:srgbClr val="1562A2"/>
          </a:solidFill>
          <a:ln w="12700">
            <a:solidFill>
              <a:srgbClr val="1562A2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4" name="Shape 2"/>
          <p:cNvSpPr/>
          <p:nvPr/>
        </p:nvSpPr>
        <p:spPr>
          <a:xfrm>
            <a:off x="4063898" y="0"/>
            <a:ext cx="2031949" cy="82296"/>
          </a:xfrm>
          <a:prstGeom prst="rect">
            <a:avLst/>
          </a:prstGeom>
          <a:solidFill>
            <a:srgbClr val="5B8C30"/>
          </a:solidFill>
          <a:ln w="12700">
            <a:solidFill>
              <a:srgbClr val="5B8C30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5" name="Shape 3"/>
          <p:cNvSpPr/>
          <p:nvPr/>
        </p:nvSpPr>
        <p:spPr>
          <a:xfrm>
            <a:off x="6095848" y="0"/>
            <a:ext cx="2031949" cy="82296"/>
          </a:xfrm>
          <a:prstGeom prst="rect">
            <a:avLst/>
          </a:prstGeom>
          <a:solidFill>
            <a:srgbClr val="EACA29"/>
          </a:solidFill>
          <a:ln w="12700">
            <a:solidFill>
              <a:srgbClr val="EACA29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6" name="Shape 4"/>
          <p:cNvSpPr/>
          <p:nvPr/>
        </p:nvSpPr>
        <p:spPr>
          <a:xfrm>
            <a:off x="8127797" y="0"/>
            <a:ext cx="2031949" cy="82296"/>
          </a:xfrm>
          <a:prstGeom prst="rect">
            <a:avLst/>
          </a:prstGeom>
          <a:solidFill>
            <a:srgbClr val="F3961C"/>
          </a:solidFill>
          <a:ln w="12700">
            <a:solidFill>
              <a:srgbClr val="F3961C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7" name="Shape 5"/>
          <p:cNvSpPr/>
          <p:nvPr/>
        </p:nvSpPr>
        <p:spPr>
          <a:xfrm>
            <a:off x="10159746" y="0"/>
            <a:ext cx="2031949" cy="82296"/>
          </a:xfrm>
          <a:prstGeom prst="rect">
            <a:avLst/>
          </a:prstGeom>
          <a:solidFill>
            <a:srgbClr val="895738"/>
          </a:solidFill>
          <a:ln w="12700">
            <a:solidFill>
              <a:srgbClr val="895738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8" name="Text 6"/>
          <p:cNvSpPr/>
          <p:nvPr/>
        </p:nvSpPr>
        <p:spPr>
          <a:xfrm>
            <a:off x="502920" y="38404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396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794882"/>
            <a:ext cx="644080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562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Objetivos del proyecto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299506" y="5376661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Wani Connect · Presentación final del proyecto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0" y="645566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15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182859" y="1577075"/>
            <a:ext cx="4948587" cy="1493012"/>
          </a:xfrm>
          <a:prstGeom prst="roundRect">
            <a:avLst>
              <a:gd name="adj" fmla="val 5263"/>
            </a:avLst>
          </a:prstGeom>
          <a:solidFill>
            <a:srgbClr val="1562A2"/>
          </a:solidFill>
          <a:ln w="12700">
            <a:solidFill>
              <a:srgbClr val="1562A2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3" name="Text 11"/>
          <p:cNvSpPr/>
          <p:nvPr/>
        </p:nvSpPr>
        <p:spPr>
          <a:xfrm>
            <a:off x="1411459" y="1741667"/>
            <a:ext cx="4498716" cy="3143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69B6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Objetivo general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11459" y="2089139"/>
            <a:ext cx="4498716" cy="9429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Desarrollar una plataforma móvil y web que impulse la economía creativa de Nicaragua, conectando a visitantes y locales con el patrimonio cultural del país.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75852" y="1577075"/>
            <a:ext cx="3508400" cy="1487170"/>
          </a:xfrm>
          <a:prstGeom prst="roundRect">
            <a:avLst>
              <a:gd name="adj" fmla="val 5263"/>
            </a:avLst>
          </a:prstGeom>
          <a:solidFill>
            <a:srgbClr val="F3961C"/>
          </a:solidFill>
          <a:ln w="12700">
            <a:solidFill>
              <a:srgbClr val="F3961C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6" name="Text 14"/>
          <p:cNvSpPr/>
          <p:nvPr/>
        </p:nvSpPr>
        <p:spPr>
          <a:xfrm>
            <a:off x="6722462" y="1723379"/>
            <a:ext cx="2761733" cy="313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Objetivos específicos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722462" y="2032751"/>
            <a:ext cx="2940410" cy="9392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FF3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Conjunto de metas desglosadas que viabilizan el objetivo general.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1773280" y="3312022"/>
            <a:ext cx="219456" cy="219456"/>
          </a:xfrm>
          <a:prstGeom prst="ellipse">
            <a:avLst/>
          </a:prstGeom>
          <a:solidFill>
            <a:srgbClr val="69B6E6"/>
          </a:solidFill>
          <a:ln w="12700">
            <a:solidFill>
              <a:srgbClr val="69B6E6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9" name="Shape 17"/>
          <p:cNvSpPr/>
          <p:nvPr/>
        </p:nvSpPr>
        <p:spPr>
          <a:xfrm>
            <a:off x="2213335" y="3145525"/>
            <a:ext cx="7515682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7DCE4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20" name="Text 18"/>
          <p:cNvSpPr/>
          <p:nvPr/>
        </p:nvSpPr>
        <p:spPr>
          <a:xfrm>
            <a:off x="2487655" y="3145525"/>
            <a:ext cx="721638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Integrar un mapa interactivo con departamentos, rutas y navegación.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793701" y="3867139"/>
            <a:ext cx="219456" cy="219456"/>
          </a:xfrm>
          <a:prstGeom prst="ellipse">
            <a:avLst/>
          </a:prstGeom>
          <a:solidFill>
            <a:srgbClr val="1562A2"/>
          </a:solidFill>
          <a:ln w="12700">
            <a:solidFill>
              <a:srgbClr val="1562A2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22" name="Shape 20"/>
          <p:cNvSpPr/>
          <p:nvPr/>
        </p:nvSpPr>
        <p:spPr>
          <a:xfrm>
            <a:off x="2213335" y="3712453"/>
            <a:ext cx="7515682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7DCE4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23" name="Text 21"/>
          <p:cNvSpPr/>
          <p:nvPr/>
        </p:nvSpPr>
        <p:spPr>
          <a:xfrm>
            <a:off x="2487655" y="3712453"/>
            <a:ext cx="721638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Publicar una agenda de eventos con recordatorios (push) y exportación .ics.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1773280" y="4407397"/>
            <a:ext cx="219456" cy="219456"/>
          </a:xfrm>
          <a:prstGeom prst="ellipse">
            <a:avLst/>
          </a:prstGeom>
          <a:solidFill>
            <a:srgbClr val="5B8C30"/>
          </a:solidFill>
          <a:ln w="12700">
            <a:solidFill>
              <a:srgbClr val="5B8C30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25" name="Shape 23"/>
          <p:cNvSpPr/>
          <p:nvPr/>
        </p:nvSpPr>
        <p:spPr>
          <a:xfrm>
            <a:off x="2213335" y="4279381"/>
            <a:ext cx="7515682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7DCE4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26" name="Text 24"/>
          <p:cNvSpPr/>
          <p:nvPr/>
        </p:nvSpPr>
        <p:spPr>
          <a:xfrm>
            <a:off x="2487655" y="4279381"/>
            <a:ext cx="721638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Ofrecer un directorio de emprendimientos locales con contacto y ubicación.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1793701" y="4965181"/>
            <a:ext cx="219456" cy="219456"/>
          </a:xfrm>
          <a:prstGeom prst="ellipse">
            <a:avLst/>
          </a:prstGeom>
          <a:solidFill>
            <a:srgbClr val="EACA29"/>
          </a:solidFill>
          <a:ln w="12700">
            <a:solidFill>
              <a:srgbClr val="EACA29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28" name="Shape 26"/>
          <p:cNvSpPr/>
          <p:nvPr/>
        </p:nvSpPr>
        <p:spPr>
          <a:xfrm>
            <a:off x="2213335" y="4846309"/>
            <a:ext cx="7515682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7DCE4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29" name="Text 27"/>
          <p:cNvSpPr/>
          <p:nvPr/>
        </p:nvSpPr>
        <p:spPr>
          <a:xfrm>
            <a:off x="2487655" y="4846309"/>
            <a:ext cx="721638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Construir una comunidad social de fotos: subir, dar like y comentar.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31949" cy="82296"/>
          </a:xfrm>
          <a:prstGeom prst="rect">
            <a:avLst/>
          </a:prstGeom>
          <a:solidFill>
            <a:srgbClr val="69B6E6"/>
          </a:solidFill>
          <a:ln w="12700">
            <a:solidFill>
              <a:srgbClr val="69B6E6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3" name="Shape 1"/>
          <p:cNvSpPr/>
          <p:nvPr/>
        </p:nvSpPr>
        <p:spPr>
          <a:xfrm>
            <a:off x="2031949" y="0"/>
            <a:ext cx="2031949" cy="82296"/>
          </a:xfrm>
          <a:prstGeom prst="rect">
            <a:avLst/>
          </a:prstGeom>
          <a:solidFill>
            <a:srgbClr val="1562A2"/>
          </a:solidFill>
          <a:ln w="12700">
            <a:solidFill>
              <a:srgbClr val="1562A2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4" name="Shape 2"/>
          <p:cNvSpPr/>
          <p:nvPr/>
        </p:nvSpPr>
        <p:spPr>
          <a:xfrm>
            <a:off x="4063898" y="0"/>
            <a:ext cx="2031949" cy="82296"/>
          </a:xfrm>
          <a:prstGeom prst="rect">
            <a:avLst/>
          </a:prstGeom>
          <a:solidFill>
            <a:srgbClr val="5B8C30"/>
          </a:solidFill>
          <a:ln w="12700">
            <a:solidFill>
              <a:srgbClr val="5B8C30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5" name="Shape 3"/>
          <p:cNvSpPr/>
          <p:nvPr/>
        </p:nvSpPr>
        <p:spPr>
          <a:xfrm>
            <a:off x="6095848" y="0"/>
            <a:ext cx="2031949" cy="82296"/>
          </a:xfrm>
          <a:prstGeom prst="rect">
            <a:avLst/>
          </a:prstGeom>
          <a:solidFill>
            <a:srgbClr val="EACA29"/>
          </a:solidFill>
          <a:ln w="12700">
            <a:solidFill>
              <a:srgbClr val="EACA29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6" name="Shape 4"/>
          <p:cNvSpPr/>
          <p:nvPr/>
        </p:nvSpPr>
        <p:spPr>
          <a:xfrm>
            <a:off x="8127797" y="0"/>
            <a:ext cx="2031949" cy="82296"/>
          </a:xfrm>
          <a:prstGeom prst="rect">
            <a:avLst/>
          </a:prstGeom>
          <a:solidFill>
            <a:srgbClr val="F3961C"/>
          </a:solidFill>
          <a:ln w="12700">
            <a:solidFill>
              <a:srgbClr val="F3961C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7" name="Shape 5"/>
          <p:cNvSpPr/>
          <p:nvPr/>
        </p:nvSpPr>
        <p:spPr>
          <a:xfrm>
            <a:off x="10159746" y="0"/>
            <a:ext cx="2031949" cy="82296"/>
          </a:xfrm>
          <a:prstGeom prst="rect">
            <a:avLst/>
          </a:prstGeom>
          <a:solidFill>
            <a:srgbClr val="895738"/>
          </a:solidFill>
          <a:ln w="12700">
            <a:solidFill>
              <a:srgbClr val="895738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8" name="Text 6"/>
          <p:cNvSpPr/>
          <p:nvPr/>
        </p:nvSpPr>
        <p:spPr>
          <a:xfrm>
            <a:off x="502920" y="38404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396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LÍMITES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855643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562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Alcance del proyecto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26720" y="6455664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Wani Connect · Presentación final del proyecto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0" y="645566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/ 15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573860" y="1691640"/>
            <a:ext cx="7183755" cy="2727579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3" name="Shape 11"/>
          <p:cNvSpPr/>
          <p:nvPr/>
        </p:nvSpPr>
        <p:spPr>
          <a:xfrm>
            <a:off x="1573861" y="1691640"/>
            <a:ext cx="3238500" cy="382531"/>
          </a:xfrm>
          <a:prstGeom prst="rect">
            <a:avLst/>
          </a:prstGeom>
          <a:solidFill>
            <a:srgbClr val="5B8C30"/>
          </a:solidFill>
          <a:ln w="12700">
            <a:solidFill>
              <a:srgbClr val="5B8C30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4" name="Text 12"/>
          <p:cNvSpPr/>
          <p:nvPr/>
        </p:nvSpPr>
        <p:spPr>
          <a:xfrm>
            <a:off x="1573861" y="1691640"/>
            <a:ext cx="3238500" cy="38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Dentro del alcance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848181" y="2423160"/>
            <a:ext cx="6576060" cy="19869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móvil (Android/iOS) y versión web.</a:t>
            </a:r>
            <a:endParaRPr lang="en-US" sz="125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Ciudades Creativas con rutas turísticas.</a:t>
            </a:r>
            <a:endParaRPr lang="en-US" sz="125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Mapa interactivo: vectorial y satelital.</a:t>
            </a:r>
            <a:endParaRPr lang="en-US" sz="125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Panel de administración de eventos y emprendimientos.</a:t>
            </a:r>
            <a:endParaRPr lang="en-US" sz="125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Español/inglés, tema claro/oscuro.</a:t>
            </a:r>
            <a:endParaRPr lang="en-US" sz="125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25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Notificaciones push y comunidad de </a:t>
            </a:r>
            <a:r>
              <a:rPr lang="en-US" sz="1250" dirty="0" err="1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fotos</a:t>
            </a:r>
            <a:r>
              <a:rPr lang="en-US" sz="125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</a:p>
          <a:p>
            <a:pPr marL="177800" indent="-177800">
              <a:lnSpc>
                <a:spcPct val="125000"/>
              </a:lnSpc>
              <a:buSzPct val="100000"/>
              <a:buFontTx/>
              <a:buChar char="•"/>
            </a:pPr>
            <a:r>
              <a:rPr lang="en-US" sz="1250" dirty="0" err="1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Geolocalización</a:t>
            </a:r>
            <a:r>
              <a:rPr lang="en-US" sz="125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50" dirty="0" err="1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</a:t>
            </a:r>
            <a:r>
              <a:rPr lang="en-US" sz="125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50" dirty="0" err="1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tiempo</a:t>
            </a:r>
            <a:r>
              <a:rPr lang="en-US" sz="125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real / </a:t>
            </a:r>
            <a:r>
              <a:rPr lang="en-US" sz="1250" dirty="0" err="1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notificaciones</a:t>
            </a:r>
            <a:r>
              <a:rPr lang="en-US" sz="125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</a:t>
            </a:r>
            <a:r>
              <a:rPr lang="en-US" sz="1250" dirty="0" err="1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proximidad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31949" cy="82296"/>
          </a:xfrm>
          <a:prstGeom prst="rect">
            <a:avLst/>
          </a:prstGeom>
          <a:solidFill>
            <a:srgbClr val="69B6E6"/>
          </a:solidFill>
          <a:ln w="12700">
            <a:solidFill>
              <a:srgbClr val="69B6E6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3" name="Shape 1"/>
          <p:cNvSpPr/>
          <p:nvPr/>
        </p:nvSpPr>
        <p:spPr>
          <a:xfrm>
            <a:off x="2031949" y="0"/>
            <a:ext cx="2031949" cy="82296"/>
          </a:xfrm>
          <a:prstGeom prst="rect">
            <a:avLst/>
          </a:prstGeom>
          <a:solidFill>
            <a:srgbClr val="1562A2"/>
          </a:solidFill>
          <a:ln w="12700">
            <a:solidFill>
              <a:srgbClr val="1562A2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4" name="Shape 2"/>
          <p:cNvSpPr/>
          <p:nvPr/>
        </p:nvSpPr>
        <p:spPr>
          <a:xfrm>
            <a:off x="4063898" y="0"/>
            <a:ext cx="2031949" cy="82296"/>
          </a:xfrm>
          <a:prstGeom prst="rect">
            <a:avLst/>
          </a:prstGeom>
          <a:solidFill>
            <a:srgbClr val="5B8C30"/>
          </a:solidFill>
          <a:ln w="12700">
            <a:solidFill>
              <a:srgbClr val="5B8C30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5" name="Shape 3"/>
          <p:cNvSpPr/>
          <p:nvPr/>
        </p:nvSpPr>
        <p:spPr>
          <a:xfrm>
            <a:off x="6095848" y="0"/>
            <a:ext cx="2031949" cy="82296"/>
          </a:xfrm>
          <a:prstGeom prst="rect">
            <a:avLst/>
          </a:prstGeom>
          <a:solidFill>
            <a:srgbClr val="EACA29"/>
          </a:solidFill>
          <a:ln w="12700">
            <a:solidFill>
              <a:srgbClr val="EACA29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6" name="Shape 4"/>
          <p:cNvSpPr/>
          <p:nvPr/>
        </p:nvSpPr>
        <p:spPr>
          <a:xfrm>
            <a:off x="8127797" y="0"/>
            <a:ext cx="2031949" cy="82296"/>
          </a:xfrm>
          <a:prstGeom prst="rect">
            <a:avLst/>
          </a:prstGeom>
          <a:solidFill>
            <a:srgbClr val="F3961C"/>
          </a:solidFill>
          <a:ln w="12700">
            <a:solidFill>
              <a:srgbClr val="F3961C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7" name="Shape 5"/>
          <p:cNvSpPr/>
          <p:nvPr/>
        </p:nvSpPr>
        <p:spPr>
          <a:xfrm>
            <a:off x="10159746" y="0"/>
            <a:ext cx="2031949" cy="82296"/>
          </a:xfrm>
          <a:prstGeom prst="rect">
            <a:avLst/>
          </a:prstGeom>
          <a:solidFill>
            <a:srgbClr val="895738"/>
          </a:solidFill>
          <a:ln w="12700">
            <a:solidFill>
              <a:srgbClr val="895738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8" name="Text 6"/>
          <p:cNvSpPr/>
          <p:nvPr/>
        </p:nvSpPr>
        <p:spPr>
          <a:xfrm>
            <a:off x="502920" y="38404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396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DISEÑO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562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Arquitectura y tecnologías utilizadas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2920" y="6455664"/>
            <a:ext cx="78486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Wani Connect · Presentación final del proyecto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0" y="6455664"/>
            <a:ext cx="10464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/ 15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1554479"/>
            <a:ext cx="2625090" cy="3176111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3" name="Shape 11"/>
          <p:cNvSpPr/>
          <p:nvPr/>
        </p:nvSpPr>
        <p:spPr>
          <a:xfrm>
            <a:off x="502920" y="1554479"/>
            <a:ext cx="2625090" cy="3176111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7DCE4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4" name="Shape 12"/>
          <p:cNvSpPr/>
          <p:nvPr/>
        </p:nvSpPr>
        <p:spPr>
          <a:xfrm>
            <a:off x="502920" y="1554480"/>
            <a:ext cx="2625090" cy="889310"/>
          </a:xfrm>
          <a:prstGeom prst="rect">
            <a:avLst/>
          </a:prstGeom>
          <a:solidFill>
            <a:srgbClr val="1562A2"/>
          </a:solidFill>
          <a:ln w="12700">
            <a:solidFill>
              <a:srgbClr val="1562A2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5" name="Text 13"/>
          <p:cNvSpPr/>
          <p:nvPr/>
        </p:nvSpPr>
        <p:spPr>
          <a:xfrm>
            <a:off x="640080" y="1554480"/>
            <a:ext cx="2350770" cy="8893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· Expo / React Native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67511" y="2160727"/>
            <a:ext cx="2295090" cy="24198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expo-router · React 19 · TypeScript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axios + JWT (SecureStore)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Firebase Auth (Google) · FCM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Mapas Leaflet / OSRM (WebView)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356610" y="1554479"/>
            <a:ext cx="2625090" cy="3176111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8" name="Shape 16"/>
          <p:cNvSpPr/>
          <p:nvPr/>
        </p:nvSpPr>
        <p:spPr>
          <a:xfrm>
            <a:off x="3356610" y="1554479"/>
            <a:ext cx="2625090" cy="3176111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7DCE4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9" name="Shape 17"/>
          <p:cNvSpPr/>
          <p:nvPr/>
        </p:nvSpPr>
        <p:spPr>
          <a:xfrm>
            <a:off x="3356610" y="1554480"/>
            <a:ext cx="2625090" cy="889310"/>
          </a:xfrm>
          <a:prstGeom prst="rect">
            <a:avLst/>
          </a:prstGeom>
          <a:solidFill>
            <a:srgbClr val="F3961C"/>
          </a:solidFill>
          <a:ln w="12700">
            <a:solidFill>
              <a:srgbClr val="F3961C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20" name="Text 18"/>
          <p:cNvSpPr/>
          <p:nvPr/>
        </p:nvSpPr>
        <p:spPr>
          <a:xfrm>
            <a:off x="3493770" y="1554480"/>
            <a:ext cx="2350770" cy="8893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· Spring Boot 4 (Java 21)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521610" y="2160727"/>
            <a:ext cx="2295090" cy="24198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/api/** stateless (JWT)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Panel /admin/** (Thymeleaf)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JPA / Hibernate · @Scheduled FCM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TOTP (RFC 6238) · CORS · BCrypt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10300" y="1554479"/>
            <a:ext cx="2625090" cy="3176111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25" name="Shape 23"/>
          <p:cNvSpPr/>
          <p:nvPr/>
        </p:nvSpPr>
        <p:spPr>
          <a:xfrm>
            <a:off x="6210300" y="1554479"/>
            <a:ext cx="2625090" cy="3176111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CE4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26" name="Shape 24"/>
          <p:cNvSpPr/>
          <p:nvPr/>
        </p:nvSpPr>
        <p:spPr>
          <a:xfrm>
            <a:off x="6210300" y="1554480"/>
            <a:ext cx="2625090" cy="889310"/>
          </a:xfrm>
          <a:prstGeom prst="rect">
            <a:avLst/>
          </a:prstGeom>
          <a:solidFill>
            <a:srgbClr val="5B8C30"/>
          </a:solidFill>
          <a:ln w="12700">
            <a:solidFill>
              <a:srgbClr val="5B8C30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27" name="Text 25"/>
          <p:cNvSpPr/>
          <p:nvPr/>
        </p:nvSpPr>
        <p:spPr>
          <a:xfrm>
            <a:off x="6347460" y="1554480"/>
            <a:ext cx="2350770" cy="8893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DATOS · SQL Server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375300" y="2160727"/>
            <a:ext cx="2295090" cy="24198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JPA/Hibernate · ddl-auto=update</a:t>
            </a:r>
            <a:endParaRPr lang="en-US" sz="10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Imágenes BLOB (varbinary(max))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063990" y="1554479"/>
            <a:ext cx="2625090" cy="3176111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NI" dirty="0"/>
          </a:p>
        </p:txBody>
      </p:sp>
      <p:sp>
        <p:nvSpPr>
          <p:cNvPr id="31" name="Shape 29"/>
          <p:cNvSpPr/>
          <p:nvPr/>
        </p:nvSpPr>
        <p:spPr>
          <a:xfrm>
            <a:off x="9063990" y="1554479"/>
            <a:ext cx="2625090" cy="3176111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CE4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32" name="Text 30"/>
          <p:cNvSpPr/>
          <p:nvPr/>
        </p:nvSpPr>
        <p:spPr>
          <a:xfrm>
            <a:off x="9201150" y="1691639"/>
            <a:ext cx="2350770" cy="5700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6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· Firebase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246870" y="2091639"/>
            <a:ext cx="2295090" cy="24198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Auth/Google Sign-In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FCM push notifications</a:t>
            </a:r>
            <a:endParaRPr lang="en-US" sz="9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account (admin)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31520" y="5029200"/>
            <a:ext cx="5250180" cy="650000"/>
          </a:xfrm>
          <a:prstGeom prst="roundRect">
            <a:avLst>
              <a:gd name="adj" fmla="val 24000"/>
            </a:avLst>
          </a:prstGeom>
          <a:solidFill>
            <a:srgbClr val="69B6E6">
              <a:alpha val="14000"/>
            </a:srgbClr>
          </a:solidFill>
          <a:ln w="12700">
            <a:solidFill>
              <a:srgbClr val="69B6E6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35" name="Text 33"/>
          <p:cNvSpPr/>
          <p:nvPr/>
        </p:nvSpPr>
        <p:spPr>
          <a:xfrm>
            <a:off x="731520" y="5029200"/>
            <a:ext cx="5250180" cy="6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2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Monorepo frontend + backend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10300" y="5029200"/>
            <a:ext cx="5250180" cy="650000"/>
          </a:xfrm>
          <a:prstGeom prst="roundRect">
            <a:avLst>
              <a:gd name="adj" fmla="val 24000"/>
            </a:avLst>
          </a:prstGeom>
          <a:solidFill>
            <a:srgbClr val="1562A2">
              <a:alpha val="14000"/>
            </a:srgbClr>
          </a:solidFill>
          <a:ln w="12700">
            <a:solidFill>
              <a:srgbClr val="1562A2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37" name="Text 35"/>
          <p:cNvSpPr/>
          <p:nvPr/>
        </p:nvSpPr>
        <p:spPr>
          <a:xfrm>
            <a:off x="6210300" y="5029200"/>
            <a:ext cx="5250180" cy="6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62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REST sin estado + JWT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31520" y="5714999"/>
            <a:ext cx="12348464" cy="16287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Soporte multiplataforma: Android, iOS y web con una sola base (Expo SDK 57).</a:t>
            </a:r>
            <a:endParaRPr lang="en-US" sz="120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Spring Boot 4 · Java 21 · Maven; base Microsoft SQL Server.</a:t>
            </a:r>
            <a:endParaRPr lang="en-US" sz="1200" dirty="0"/>
          </a:p>
          <a:p>
            <a:pPr marL="177800" indent="-1778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Seguridad: Spring Security + JWT (jjwt 0.12.5) + Firebase Auth / OAuth Google.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31949" cy="82296"/>
          </a:xfrm>
          <a:prstGeom prst="rect">
            <a:avLst/>
          </a:prstGeom>
          <a:solidFill>
            <a:srgbClr val="69B6E6"/>
          </a:solidFill>
          <a:ln w="12700">
            <a:solidFill>
              <a:srgbClr val="69B6E6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3" name="Shape 1"/>
          <p:cNvSpPr/>
          <p:nvPr/>
        </p:nvSpPr>
        <p:spPr>
          <a:xfrm>
            <a:off x="2031949" y="0"/>
            <a:ext cx="2031949" cy="82296"/>
          </a:xfrm>
          <a:prstGeom prst="rect">
            <a:avLst/>
          </a:prstGeom>
          <a:solidFill>
            <a:srgbClr val="1562A2"/>
          </a:solidFill>
          <a:ln w="12700">
            <a:solidFill>
              <a:srgbClr val="1562A2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4" name="Shape 2"/>
          <p:cNvSpPr/>
          <p:nvPr/>
        </p:nvSpPr>
        <p:spPr>
          <a:xfrm>
            <a:off x="4063898" y="0"/>
            <a:ext cx="2031949" cy="82296"/>
          </a:xfrm>
          <a:prstGeom prst="rect">
            <a:avLst/>
          </a:prstGeom>
          <a:solidFill>
            <a:srgbClr val="5B8C30"/>
          </a:solidFill>
          <a:ln w="12700">
            <a:solidFill>
              <a:srgbClr val="5B8C30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5" name="Shape 3"/>
          <p:cNvSpPr/>
          <p:nvPr/>
        </p:nvSpPr>
        <p:spPr>
          <a:xfrm>
            <a:off x="6095848" y="0"/>
            <a:ext cx="2031949" cy="82296"/>
          </a:xfrm>
          <a:prstGeom prst="rect">
            <a:avLst/>
          </a:prstGeom>
          <a:solidFill>
            <a:srgbClr val="EACA29"/>
          </a:solidFill>
          <a:ln w="12700">
            <a:solidFill>
              <a:srgbClr val="EACA29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6" name="Shape 4"/>
          <p:cNvSpPr/>
          <p:nvPr/>
        </p:nvSpPr>
        <p:spPr>
          <a:xfrm>
            <a:off x="8127797" y="0"/>
            <a:ext cx="2031949" cy="82296"/>
          </a:xfrm>
          <a:prstGeom prst="rect">
            <a:avLst/>
          </a:prstGeom>
          <a:solidFill>
            <a:srgbClr val="F3961C"/>
          </a:solidFill>
          <a:ln w="12700">
            <a:solidFill>
              <a:srgbClr val="F3961C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7" name="Shape 5"/>
          <p:cNvSpPr/>
          <p:nvPr/>
        </p:nvSpPr>
        <p:spPr>
          <a:xfrm>
            <a:off x="10159746" y="0"/>
            <a:ext cx="2031949" cy="82296"/>
          </a:xfrm>
          <a:prstGeom prst="rect">
            <a:avLst/>
          </a:prstGeom>
          <a:solidFill>
            <a:srgbClr val="895738"/>
          </a:solidFill>
          <a:ln w="12700">
            <a:solidFill>
              <a:srgbClr val="895738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8" name="Text 6"/>
          <p:cNvSpPr/>
          <p:nvPr/>
        </p:nvSpPr>
        <p:spPr>
          <a:xfrm>
            <a:off x="502920" y="38404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396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562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Distribución de tecnologías utilizadas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2920" y="6455664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Wani Connect · Presentación final del proyecto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0" y="645566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/ 15</a:t>
            </a:r>
            <a:endParaRPr lang="en-US" sz="9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640080" y="1417320"/>
          <a:ext cx="603504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 10"/>
          <p:cNvSpPr/>
          <p:nvPr/>
        </p:nvSpPr>
        <p:spPr>
          <a:xfrm>
            <a:off x="7040880" y="2323371"/>
            <a:ext cx="4572000" cy="18669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250" b="1" dirty="0">
                <a:solidFill>
                  <a:srgbClr val="1562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Móvil Expo/React Native (30%)</a:t>
            </a:r>
            <a:endParaRPr lang="en-US" sz="125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250" b="1" dirty="0">
                <a:solidFill>
                  <a:srgbClr val="F396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Backend Spring Boot + Java (26%)</a:t>
            </a:r>
            <a:endParaRPr lang="en-US" sz="125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250" b="1" dirty="0">
                <a:solidFill>
                  <a:srgbClr val="69B6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Frontend web React + TypeScript (22%)</a:t>
            </a:r>
            <a:endParaRPr lang="en-US" sz="125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250" b="1" dirty="0">
                <a:solidFill>
                  <a:srgbClr val="5B8C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Base de datos SQL Server (12%)</a:t>
            </a:r>
            <a:endParaRPr lang="en-US" sz="125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250" b="1" dirty="0">
                <a:solidFill>
                  <a:srgbClr val="8957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Seguridad e integraciones (10%)</a:t>
            </a:r>
            <a:endParaRPr lang="en-US" sz="125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2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sola base de </a:t>
            </a:r>
            <a:r>
              <a:rPr lang="en-US" sz="1250" dirty="0" err="1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</a:t>
            </a:r>
            <a:r>
              <a:rPr lang="en-US" sz="12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para-Android, iOS y web.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31520" y="62636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Proporción estimada de esfuerzo/involucramiento por capa. Los porcentajes son representativos del proyecto.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31949" cy="82296"/>
          </a:xfrm>
          <a:prstGeom prst="rect">
            <a:avLst/>
          </a:prstGeom>
          <a:solidFill>
            <a:srgbClr val="69B6E6"/>
          </a:solidFill>
          <a:ln w="12700">
            <a:solidFill>
              <a:srgbClr val="69B6E6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3" name="Shape 1"/>
          <p:cNvSpPr/>
          <p:nvPr/>
        </p:nvSpPr>
        <p:spPr>
          <a:xfrm>
            <a:off x="2031949" y="0"/>
            <a:ext cx="2031949" cy="82296"/>
          </a:xfrm>
          <a:prstGeom prst="rect">
            <a:avLst/>
          </a:prstGeom>
          <a:solidFill>
            <a:srgbClr val="1562A2"/>
          </a:solidFill>
          <a:ln w="12700">
            <a:solidFill>
              <a:srgbClr val="1562A2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4" name="Shape 2"/>
          <p:cNvSpPr/>
          <p:nvPr/>
        </p:nvSpPr>
        <p:spPr>
          <a:xfrm>
            <a:off x="4063898" y="0"/>
            <a:ext cx="2031949" cy="82296"/>
          </a:xfrm>
          <a:prstGeom prst="rect">
            <a:avLst/>
          </a:prstGeom>
          <a:solidFill>
            <a:srgbClr val="5B8C30"/>
          </a:solidFill>
          <a:ln w="12700">
            <a:solidFill>
              <a:srgbClr val="5B8C30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5" name="Shape 3"/>
          <p:cNvSpPr/>
          <p:nvPr/>
        </p:nvSpPr>
        <p:spPr>
          <a:xfrm>
            <a:off x="6095848" y="0"/>
            <a:ext cx="2031949" cy="82296"/>
          </a:xfrm>
          <a:prstGeom prst="rect">
            <a:avLst/>
          </a:prstGeom>
          <a:solidFill>
            <a:srgbClr val="EACA29"/>
          </a:solidFill>
          <a:ln w="12700">
            <a:solidFill>
              <a:srgbClr val="EACA29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6" name="Shape 4"/>
          <p:cNvSpPr/>
          <p:nvPr/>
        </p:nvSpPr>
        <p:spPr>
          <a:xfrm>
            <a:off x="8127797" y="0"/>
            <a:ext cx="2031949" cy="82296"/>
          </a:xfrm>
          <a:prstGeom prst="rect">
            <a:avLst/>
          </a:prstGeom>
          <a:solidFill>
            <a:srgbClr val="F3961C"/>
          </a:solidFill>
          <a:ln w="12700">
            <a:solidFill>
              <a:srgbClr val="F3961C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7" name="Shape 5"/>
          <p:cNvSpPr/>
          <p:nvPr/>
        </p:nvSpPr>
        <p:spPr>
          <a:xfrm>
            <a:off x="10159746" y="0"/>
            <a:ext cx="2031949" cy="82296"/>
          </a:xfrm>
          <a:prstGeom prst="rect">
            <a:avLst/>
          </a:prstGeom>
          <a:solidFill>
            <a:srgbClr val="895738"/>
          </a:solidFill>
          <a:ln w="12700">
            <a:solidFill>
              <a:srgbClr val="895738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8" name="Text 6"/>
          <p:cNvSpPr/>
          <p:nvPr/>
        </p:nvSpPr>
        <p:spPr>
          <a:xfrm>
            <a:off x="502920" y="38404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396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PLATAFORMA WEB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562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Funcionalidades principales · Web (parte 1)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2920" y="6455664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Wani Connect · Presentación final del proyecto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0" y="645566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/ 15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1097280"/>
            <a:ext cx="10424160" cy="11857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Mapa interactivo con departamentos, rutas y dimensión satelital.</a:t>
            </a:r>
            <a:endParaRPr lang="en-US" sz="130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Calendario de eventos navegable y exportación .ics.</a:t>
            </a:r>
            <a:endParaRPr lang="en-US" sz="130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Panel de administración (/admin) para eventos y emprendimientos.</a:t>
            </a:r>
            <a:endParaRPr lang="en-US" sz="130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Directorio de emprendimientos por rubro con contacto.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82040" y="2283018"/>
            <a:ext cx="1713506" cy="3608302"/>
          </a:xfrm>
          <a:prstGeom prst="roundRect">
            <a:avLst>
              <a:gd name="adj" fmla="val 2400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5875">
            <a:solidFill>
              <a:srgbClr val="D7DCE4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5" name="Text 13"/>
          <p:cNvSpPr/>
          <p:nvPr/>
        </p:nvSpPr>
        <p:spPr>
          <a:xfrm>
            <a:off x="502920" y="5807732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Captura: Mapa interactivo.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79573" y="2303095"/>
            <a:ext cx="1713507" cy="3608302"/>
          </a:xfrm>
          <a:prstGeom prst="roundRect">
            <a:avLst>
              <a:gd name="adj" fmla="val 2400"/>
            </a:avLst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5875">
            <a:solidFill>
              <a:srgbClr val="D7DCE4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8" name="Text 16"/>
          <p:cNvSpPr/>
          <p:nvPr/>
        </p:nvSpPr>
        <p:spPr>
          <a:xfrm>
            <a:off x="4130371" y="5971429"/>
            <a:ext cx="3001949" cy="484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Captura: Calendario y agenda de eventos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828928" y="2847574"/>
            <a:ext cx="2281032" cy="2810289"/>
          </a:xfrm>
          <a:prstGeom prst="roundRect">
            <a:avLst>
              <a:gd name="adj" fmla="val 2400"/>
            </a:avLst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5875">
            <a:solidFill>
              <a:srgbClr val="D7DCE4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21" name="Text 19"/>
          <p:cNvSpPr/>
          <p:nvPr/>
        </p:nvSpPr>
        <p:spPr>
          <a:xfrm>
            <a:off x="8263723" y="5847687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Captura: Panel de administración</a:t>
            </a:r>
            <a:endParaRPr lang="en-US" sz="1000" dirty="0"/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FD8A8727-55DA-DA74-6902-624674D989D7}"/>
              </a:ext>
            </a:extLst>
          </p:cNvPr>
          <p:cNvSpPr/>
          <p:nvPr/>
        </p:nvSpPr>
        <p:spPr>
          <a:xfrm>
            <a:off x="5769333" y="2261301"/>
            <a:ext cx="1713507" cy="3568148"/>
          </a:xfrm>
          <a:prstGeom prst="roundRect">
            <a:avLst>
              <a:gd name="adj" fmla="val 2400"/>
            </a:avLst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5875">
            <a:solidFill>
              <a:srgbClr val="D7DCE4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31949" cy="82296"/>
          </a:xfrm>
          <a:prstGeom prst="rect">
            <a:avLst/>
          </a:prstGeom>
          <a:solidFill>
            <a:srgbClr val="69B6E6"/>
          </a:solidFill>
          <a:ln w="12700">
            <a:solidFill>
              <a:srgbClr val="69B6E6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3" name="Shape 1"/>
          <p:cNvSpPr/>
          <p:nvPr/>
        </p:nvSpPr>
        <p:spPr>
          <a:xfrm>
            <a:off x="2031949" y="0"/>
            <a:ext cx="2031949" cy="82296"/>
          </a:xfrm>
          <a:prstGeom prst="rect">
            <a:avLst/>
          </a:prstGeom>
          <a:solidFill>
            <a:srgbClr val="1562A2"/>
          </a:solidFill>
          <a:ln w="12700">
            <a:solidFill>
              <a:srgbClr val="1562A2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4" name="Shape 2"/>
          <p:cNvSpPr/>
          <p:nvPr/>
        </p:nvSpPr>
        <p:spPr>
          <a:xfrm>
            <a:off x="4063898" y="0"/>
            <a:ext cx="2031949" cy="82296"/>
          </a:xfrm>
          <a:prstGeom prst="rect">
            <a:avLst/>
          </a:prstGeom>
          <a:solidFill>
            <a:srgbClr val="5B8C30"/>
          </a:solidFill>
          <a:ln w="12700">
            <a:solidFill>
              <a:srgbClr val="5B8C30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5" name="Shape 3"/>
          <p:cNvSpPr/>
          <p:nvPr/>
        </p:nvSpPr>
        <p:spPr>
          <a:xfrm>
            <a:off x="6095848" y="0"/>
            <a:ext cx="2031949" cy="82296"/>
          </a:xfrm>
          <a:prstGeom prst="rect">
            <a:avLst/>
          </a:prstGeom>
          <a:solidFill>
            <a:srgbClr val="EACA29"/>
          </a:solidFill>
          <a:ln w="12700">
            <a:solidFill>
              <a:srgbClr val="EACA29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6" name="Shape 4"/>
          <p:cNvSpPr/>
          <p:nvPr/>
        </p:nvSpPr>
        <p:spPr>
          <a:xfrm>
            <a:off x="8127797" y="0"/>
            <a:ext cx="2031949" cy="82296"/>
          </a:xfrm>
          <a:prstGeom prst="rect">
            <a:avLst/>
          </a:prstGeom>
          <a:solidFill>
            <a:srgbClr val="F3961C"/>
          </a:solidFill>
          <a:ln w="12700">
            <a:solidFill>
              <a:srgbClr val="F3961C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7" name="Shape 5"/>
          <p:cNvSpPr/>
          <p:nvPr/>
        </p:nvSpPr>
        <p:spPr>
          <a:xfrm>
            <a:off x="10159746" y="0"/>
            <a:ext cx="2031949" cy="82296"/>
          </a:xfrm>
          <a:prstGeom prst="rect">
            <a:avLst/>
          </a:prstGeom>
          <a:solidFill>
            <a:srgbClr val="895738"/>
          </a:solidFill>
          <a:ln w="12700">
            <a:solidFill>
              <a:srgbClr val="895738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8" name="Text 6"/>
          <p:cNvSpPr/>
          <p:nvPr/>
        </p:nvSpPr>
        <p:spPr>
          <a:xfrm>
            <a:off x="502920" y="38404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396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MÓVIL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562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Funcionalidades principales · Móvil (parte 2)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2920" y="6455664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Wani Connect · Presentación final del proyecto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0" y="645566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/ 15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1600200"/>
            <a:ext cx="55778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Notificaciones push (FCM) y recordatorios locales por evento.</a:t>
            </a:r>
            <a:endParaRPr lang="en-US" sz="130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Comunidad de fotos: muro, carruseles, likes y comentarios.</a:t>
            </a:r>
            <a:endParaRPr lang="en-US" sz="130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Cámara y galería; fotos privadas o públicas.</a:t>
            </a:r>
            <a:endParaRPr lang="en-US" sz="130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Perfil: foto, datos, sesiones activas y exportación de datos.</a:t>
            </a:r>
            <a:endParaRPr lang="en-US" sz="130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Desbloqueo biométrico y login con Google o correo.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766560" y="1554480"/>
            <a:ext cx="2240280" cy="4114800"/>
          </a:xfrm>
          <a:prstGeom prst="roundRect">
            <a:avLst>
              <a:gd name="adj" fmla="val 408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4" name="Shape 12"/>
          <p:cNvSpPr/>
          <p:nvPr/>
        </p:nvSpPr>
        <p:spPr>
          <a:xfrm>
            <a:off x="6968185" y="2089404"/>
            <a:ext cx="1837030" cy="3044952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5" name="Shape 13"/>
          <p:cNvSpPr/>
          <p:nvPr/>
        </p:nvSpPr>
        <p:spPr>
          <a:xfrm>
            <a:off x="7057796" y="2336292"/>
            <a:ext cx="1657807" cy="144018"/>
          </a:xfrm>
          <a:prstGeom prst="rect">
            <a:avLst/>
          </a:prstGeom>
          <a:solidFill>
            <a:srgbClr val="69B6E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6" name="Shape 14"/>
          <p:cNvSpPr/>
          <p:nvPr/>
        </p:nvSpPr>
        <p:spPr>
          <a:xfrm>
            <a:off x="7057796" y="2974086"/>
            <a:ext cx="1366571" cy="144018"/>
          </a:xfrm>
          <a:prstGeom prst="rect">
            <a:avLst/>
          </a:prstGeom>
          <a:solidFill>
            <a:srgbClr val="DCE3E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7" name="Shape 15"/>
          <p:cNvSpPr/>
          <p:nvPr/>
        </p:nvSpPr>
        <p:spPr>
          <a:xfrm>
            <a:off x="7057796" y="3611880"/>
            <a:ext cx="1075334" cy="144018"/>
          </a:xfrm>
          <a:prstGeom prst="rect">
            <a:avLst/>
          </a:prstGeom>
          <a:solidFill>
            <a:srgbClr val="DCE3E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8" name="Shape 16"/>
          <p:cNvSpPr/>
          <p:nvPr/>
        </p:nvSpPr>
        <p:spPr>
          <a:xfrm>
            <a:off x="7057796" y="4352544"/>
            <a:ext cx="370332" cy="370332"/>
          </a:xfrm>
          <a:prstGeom prst="ellipse">
            <a:avLst/>
          </a:prstGeom>
          <a:solidFill>
            <a:srgbClr val="F3961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9" name="Text 17"/>
          <p:cNvSpPr/>
          <p:nvPr/>
        </p:nvSpPr>
        <p:spPr>
          <a:xfrm>
            <a:off x="6629400" y="574243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Captura: Explorar · Mapa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326880" y="1554480"/>
            <a:ext cx="2240280" cy="4114800"/>
          </a:xfrm>
          <a:prstGeom prst="roundRect">
            <a:avLst>
              <a:gd name="adj" fmla="val 408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21" name="Shape 19"/>
          <p:cNvSpPr/>
          <p:nvPr/>
        </p:nvSpPr>
        <p:spPr>
          <a:xfrm>
            <a:off x="9528505" y="2089404"/>
            <a:ext cx="1837030" cy="3044952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4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22" name="Shape 20"/>
          <p:cNvSpPr/>
          <p:nvPr/>
        </p:nvSpPr>
        <p:spPr>
          <a:xfrm>
            <a:off x="9618116" y="2336292"/>
            <a:ext cx="1657807" cy="144018"/>
          </a:xfrm>
          <a:prstGeom prst="rect">
            <a:avLst/>
          </a:prstGeom>
          <a:solidFill>
            <a:srgbClr val="69B6E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23" name="Shape 21"/>
          <p:cNvSpPr/>
          <p:nvPr/>
        </p:nvSpPr>
        <p:spPr>
          <a:xfrm>
            <a:off x="9618116" y="2974086"/>
            <a:ext cx="1366571" cy="144018"/>
          </a:xfrm>
          <a:prstGeom prst="rect">
            <a:avLst/>
          </a:prstGeom>
          <a:solidFill>
            <a:srgbClr val="DCE3E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24" name="Shape 22"/>
          <p:cNvSpPr/>
          <p:nvPr/>
        </p:nvSpPr>
        <p:spPr>
          <a:xfrm>
            <a:off x="9618116" y="3611880"/>
            <a:ext cx="1075334" cy="144018"/>
          </a:xfrm>
          <a:prstGeom prst="rect">
            <a:avLst/>
          </a:prstGeom>
          <a:solidFill>
            <a:srgbClr val="DCE3E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25" name="Shape 23"/>
          <p:cNvSpPr/>
          <p:nvPr/>
        </p:nvSpPr>
        <p:spPr>
          <a:xfrm>
            <a:off x="9618116" y="4352544"/>
            <a:ext cx="370332" cy="370332"/>
          </a:xfrm>
          <a:prstGeom prst="ellipse">
            <a:avLst/>
          </a:prstGeom>
          <a:solidFill>
            <a:srgbClr val="F3961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26" name="Text 24"/>
          <p:cNvSpPr/>
          <p:nvPr/>
        </p:nvSpPr>
        <p:spPr>
          <a:xfrm>
            <a:off x="9189720" y="5742432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Captura: Comunidad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31949" cy="82296"/>
          </a:xfrm>
          <a:prstGeom prst="rect">
            <a:avLst/>
          </a:prstGeom>
          <a:solidFill>
            <a:srgbClr val="69B6E6"/>
          </a:solidFill>
          <a:ln w="12700">
            <a:solidFill>
              <a:srgbClr val="69B6E6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3" name="Shape 1"/>
          <p:cNvSpPr/>
          <p:nvPr/>
        </p:nvSpPr>
        <p:spPr>
          <a:xfrm>
            <a:off x="2031949" y="0"/>
            <a:ext cx="2031949" cy="82296"/>
          </a:xfrm>
          <a:prstGeom prst="rect">
            <a:avLst/>
          </a:prstGeom>
          <a:solidFill>
            <a:srgbClr val="1562A2"/>
          </a:solidFill>
          <a:ln w="12700">
            <a:solidFill>
              <a:srgbClr val="1562A2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4" name="Shape 2"/>
          <p:cNvSpPr/>
          <p:nvPr/>
        </p:nvSpPr>
        <p:spPr>
          <a:xfrm>
            <a:off x="4063898" y="0"/>
            <a:ext cx="2031949" cy="82296"/>
          </a:xfrm>
          <a:prstGeom prst="rect">
            <a:avLst/>
          </a:prstGeom>
          <a:solidFill>
            <a:srgbClr val="5B8C30"/>
          </a:solidFill>
          <a:ln w="12700">
            <a:solidFill>
              <a:srgbClr val="5B8C30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5" name="Shape 3"/>
          <p:cNvSpPr/>
          <p:nvPr/>
        </p:nvSpPr>
        <p:spPr>
          <a:xfrm>
            <a:off x="6095848" y="0"/>
            <a:ext cx="2031949" cy="82296"/>
          </a:xfrm>
          <a:prstGeom prst="rect">
            <a:avLst/>
          </a:prstGeom>
          <a:solidFill>
            <a:srgbClr val="EACA29"/>
          </a:solidFill>
          <a:ln w="12700">
            <a:solidFill>
              <a:srgbClr val="EACA29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6" name="Shape 4"/>
          <p:cNvSpPr/>
          <p:nvPr/>
        </p:nvSpPr>
        <p:spPr>
          <a:xfrm>
            <a:off x="8127797" y="0"/>
            <a:ext cx="2031949" cy="82296"/>
          </a:xfrm>
          <a:prstGeom prst="rect">
            <a:avLst/>
          </a:prstGeom>
          <a:solidFill>
            <a:srgbClr val="F3961C"/>
          </a:solidFill>
          <a:ln w="12700">
            <a:solidFill>
              <a:srgbClr val="F3961C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7" name="Shape 5"/>
          <p:cNvSpPr/>
          <p:nvPr/>
        </p:nvSpPr>
        <p:spPr>
          <a:xfrm>
            <a:off x="10159746" y="0"/>
            <a:ext cx="2031949" cy="82296"/>
          </a:xfrm>
          <a:prstGeom prst="rect">
            <a:avLst/>
          </a:prstGeom>
          <a:solidFill>
            <a:srgbClr val="895738"/>
          </a:solidFill>
          <a:ln w="12700">
            <a:solidFill>
              <a:srgbClr val="895738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8" name="Text 6"/>
          <p:cNvSpPr/>
          <p:nvPr/>
        </p:nvSpPr>
        <p:spPr>
          <a:xfrm>
            <a:off x="502920" y="38404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396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FLUJO PRINCIPAL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562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Demostración del sistema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2920" y="6455664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Wani Connect · Presentación final del proyecto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0" y="645566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15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77240" y="1481328"/>
            <a:ext cx="822960" cy="548640"/>
          </a:xfrm>
          <a:prstGeom prst="roundRect">
            <a:avLst>
              <a:gd name="adj" fmla="val 20000"/>
            </a:avLst>
          </a:prstGeom>
          <a:solidFill>
            <a:srgbClr val="1562A2"/>
          </a:solidFill>
          <a:ln w="12700">
            <a:solidFill>
              <a:srgbClr val="1562A2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3" name="Text 11"/>
          <p:cNvSpPr/>
          <p:nvPr/>
        </p:nvSpPr>
        <p:spPr>
          <a:xfrm>
            <a:off x="777240" y="1481328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Cuenta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700280" y="1426464"/>
            <a:ext cx="410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Registro o login con correo / Google y verificación 2FA.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7240" y="2231136"/>
            <a:ext cx="822960" cy="548640"/>
          </a:xfrm>
          <a:prstGeom prst="roundRect">
            <a:avLst>
              <a:gd name="adj" fmla="val 20000"/>
            </a:avLst>
          </a:prstGeom>
          <a:solidFill>
            <a:srgbClr val="1562A2"/>
          </a:solidFill>
          <a:ln w="12700">
            <a:solidFill>
              <a:srgbClr val="1562A2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6" name="Text 14"/>
          <p:cNvSpPr/>
          <p:nvPr/>
        </p:nvSpPr>
        <p:spPr>
          <a:xfrm>
            <a:off x="777240" y="2231136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Explorar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700280" y="2176272"/>
            <a:ext cx="410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Mapa: ubicación, rutas y paradas turísticas.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7240" y="2980944"/>
            <a:ext cx="822960" cy="548640"/>
          </a:xfrm>
          <a:prstGeom prst="roundRect">
            <a:avLst>
              <a:gd name="adj" fmla="val 20000"/>
            </a:avLst>
          </a:prstGeom>
          <a:solidFill>
            <a:srgbClr val="1562A2"/>
          </a:solidFill>
          <a:ln w="12700">
            <a:solidFill>
              <a:srgbClr val="1562A2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9" name="Text 17"/>
          <p:cNvSpPr/>
          <p:nvPr/>
        </p:nvSpPr>
        <p:spPr>
          <a:xfrm>
            <a:off x="777240" y="2980944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Eventos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700280" y="2926080"/>
            <a:ext cx="410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Calendario, favoritos y recordatorio del evento.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77240" y="3730752"/>
            <a:ext cx="822960" cy="548640"/>
          </a:xfrm>
          <a:prstGeom prst="roundRect">
            <a:avLst>
              <a:gd name="adj" fmla="val 20000"/>
            </a:avLst>
          </a:prstGeom>
          <a:solidFill>
            <a:srgbClr val="1562A2"/>
          </a:solidFill>
          <a:ln w="12700">
            <a:solidFill>
              <a:srgbClr val="1562A2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22" name="Text 20"/>
          <p:cNvSpPr/>
          <p:nvPr/>
        </p:nvSpPr>
        <p:spPr>
          <a:xfrm>
            <a:off x="777240" y="373075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Compartir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700280" y="3675888"/>
            <a:ext cx="410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Publicar fotos en el muro de la comunidad.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77240" y="4480560"/>
            <a:ext cx="822960" cy="548640"/>
          </a:xfrm>
          <a:prstGeom prst="roundRect">
            <a:avLst>
              <a:gd name="adj" fmla="val 20000"/>
            </a:avLst>
          </a:prstGeom>
          <a:solidFill>
            <a:srgbClr val="1562A2"/>
          </a:solidFill>
          <a:ln w="12700">
            <a:solidFill>
              <a:srgbClr val="1562A2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25" name="Text 23"/>
          <p:cNvSpPr/>
          <p:nvPr/>
        </p:nvSpPr>
        <p:spPr>
          <a:xfrm>
            <a:off x="777240" y="44805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Contactar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700280" y="4425696"/>
            <a:ext cx="410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Directorio de emprendimientos con ubicación y contacto.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385561" y="1202436"/>
            <a:ext cx="4213527" cy="4206240"/>
          </a:xfrm>
          <a:prstGeom prst="roundRect">
            <a:avLst>
              <a:gd name="adj" fmla="val 1121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5875">
            <a:solidFill>
              <a:srgbClr val="D7DCE4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30" name="Text 28"/>
          <p:cNvSpPr/>
          <p:nvPr/>
        </p:nvSpPr>
        <p:spPr>
          <a:xfrm>
            <a:off x="5950736" y="5449029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 err="1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Agregar</a:t>
            </a:r>
            <a:r>
              <a:rPr lang="en-US" sz="10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050" i="1" dirty="0" err="1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Eventos</a:t>
            </a:r>
            <a:r>
              <a:rPr lang="en-US" sz="1050" i="1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 </a:t>
            </a:r>
            <a:r>
              <a:rPr lang="en-US" sz="1050" i="1" dirty="0" err="1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emprendimientos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31949" cy="82296"/>
          </a:xfrm>
          <a:prstGeom prst="rect">
            <a:avLst/>
          </a:prstGeom>
          <a:solidFill>
            <a:srgbClr val="69B6E6"/>
          </a:solidFill>
          <a:ln w="12700">
            <a:solidFill>
              <a:srgbClr val="69B6E6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3" name="Shape 1"/>
          <p:cNvSpPr/>
          <p:nvPr/>
        </p:nvSpPr>
        <p:spPr>
          <a:xfrm>
            <a:off x="2031949" y="0"/>
            <a:ext cx="2031949" cy="82296"/>
          </a:xfrm>
          <a:prstGeom prst="rect">
            <a:avLst/>
          </a:prstGeom>
          <a:solidFill>
            <a:srgbClr val="1562A2"/>
          </a:solidFill>
          <a:ln w="12700">
            <a:solidFill>
              <a:srgbClr val="1562A2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4" name="Shape 2"/>
          <p:cNvSpPr/>
          <p:nvPr/>
        </p:nvSpPr>
        <p:spPr>
          <a:xfrm>
            <a:off x="4063898" y="0"/>
            <a:ext cx="2031949" cy="82296"/>
          </a:xfrm>
          <a:prstGeom prst="rect">
            <a:avLst/>
          </a:prstGeom>
          <a:solidFill>
            <a:srgbClr val="5B8C30"/>
          </a:solidFill>
          <a:ln w="12700">
            <a:solidFill>
              <a:srgbClr val="5B8C30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5" name="Shape 3"/>
          <p:cNvSpPr/>
          <p:nvPr/>
        </p:nvSpPr>
        <p:spPr>
          <a:xfrm>
            <a:off x="6095848" y="0"/>
            <a:ext cx="2031949" cy="82296"/>
          </a:xfrm>
          <a:prstGeom prst="rect">
            <a:avLst/>
          </a:prstGeom>
          <a:solidFill>
            <a:srgbClr val="EACA29"/>
          </a:solidFill>
          <a:ln w="12700">
            <a:solidFill>
              <a:srgbClr val="EACA29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6" name="Shape 4"/>
          <p:cNvSpPr/>
          <p:nvPr/>
        </p:nvSpPr>
        <p:spPr>
          <a:xfrm>
            <a:off x="8127797" y="0"/>
            <a:ext cx="2031949" cy="82296"/>
          </a:xfrm>
          <a:prstGeom prst="rect">
            <a:avLst/>
          </a:prstGeom>
          <a:solidFill>
            <a:srgbClr val="F3961C"/>
          </a:solidFill>
          <a:ln w="12700">
            <a:solidFill>
              <a:srgbClr val="F3961C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7" name="Shape 5"/>
          <p:cNvSpPr/>
          <p:nvPr/>
        </p:nvSpPr>
        <p:spPr>
          <a:xfrm>
            <a:off x="10159746" y="0"/>
            <a:ext cx="2031949" cy="82296"/>
          </a:xfrm>
          <a:prstGeom prst="rect">
            <a:avLst/>
          </a:prstGeom>
          <a:solidFill>
            <a:srgbClr val="895738"/>
          </a:solidFill>
          <a:ln w="12700">
            <a:solidFill>
              <a:srgbClr val="895738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8" name="Text 6"/>
          <p:cNvSpPr/>
          <p:nvPr/>
        </p:nvSpPr>
        <p:spPr>
          <a:xfrm>
            <a:off x="502920" y="38404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396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CONFIANZA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562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Seguridad e integración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2920" y="6455664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Wani Connect · Presentación final del proyecto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0" y="645566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1645920"/>
            <a:ext cx="10607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sin estado (jjwt), vigencia 1 h y sesiones activas revocables.</a:t>
            </a:r>
            <a:endParaRPr lang="en-US" sz="130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Autenticación en dos pasos: TOTP (RFC 6238) con app autenticadora.</a:t>
            </a:r>
            <a:endParaRPr lang="en-US" sz="130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OAuth / Google Sign-In vía Firebase Auth (ID token verificado con firebase-admin).</a:t>
            </a:r>
            <a:endParaRPr lang="en-US" sz="130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de acceso por roles (USER, ADMIN, AUDITOR) con bitácora.</a:t>
            </a:r>
            <a:endParaRPr lang="en-US" sz="130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Contraseñas con BCrypt, bloqueo de cuentas y límites de subida (10 MB).</a:t>
            </a:r>
            <a:endParaRPr lang="en-US" sz="1300" dirty="0"/>
          </a:p>
          <a:p>
            <a:pPr marL="177800" indent="-1778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Exportación de datos del usuario y API de administración protegida.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572000"/>
            <a:ext cx="2514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4" name="Shape 12"/>
          <p:cNvSpPr/>
          <p:nvPr/>
        </p:nvSpPr>
        <p:spPr>
          <a:xfrm>
            <a:off x="731520" y="4572000"/>
            <a:ext cx="2514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DCE4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5" name="Shape 13"/>
          <p:cNvSpPr/>
          <p:nvPr/>
        </p:nvSpPr>
        <p:spPr>
          <a:xfrm>
            <a:off x="731520" y="4572000"/>
            <a:ext cx="2514600" cy="109728"/>
          </a:xfrm>
          <a:prstGeom prst="rect">
            <a:avLst/>
          </a:prstGeom>
          <a:solidFill>
            <a:srgbClr val="1562A2"/>
          </a:solidFill>
          <a:ln w="12700">
            <a:solidFill>
              <a:srgbClr val="1562A2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6" name="Text 14"/>
          <p:cNvSpPr/>
          <p:nvPr/>
        </p:nvSpPr>
        <p:spPr>
          <a:xfrm>
            <a:off x="868680" y="4754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2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5138928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Sesiones revocables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74720" y="4572000"/>
            <a:ext cx="2514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9" name="Shape 17"/>
          <p:cNvSpPr/>
          <p:nvPr/>
        </p:nvSpPr>
        <p:spPr>
          <a:xfrm>
            <a:off x="3474720" y="4572000"/>
            <a:ext cx="2514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DCE4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20" name="Shape 18"/>
          <p:cNvSpPr/>
          <p:nvPr/>
        </p:nvSpPr>
        <p:spPr>
          <a:xfrm>
            <a:off x="3474720" y="4572000"/>
            <a:ext cx="2514600" cy="109728"/>
          </a:xfrm>
          <a:prstGeom prst="rect">
            <a:avLst/>
          </a:prstGeom>
          <a:solidFill>
            <a:srgbClr val="F3961C"/>
          </a:solidFill>
          <a:ln w="12700">
            <a:solidFill>
              <a:srgbClr val="F3961C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21" name="Text 19"/>
          <p:cNvSpPr/>
          <p:nvPr/>
        </p:nvSpPr>
        <p:spPr>
          <a:xfrm>
            <a:off x="3611880" y="4754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96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2FA TOTP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611880" y="5138928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RFC 6238 · 6 dígitos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17920" y="4572000"/>
            <a:ext cx="2514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24" name="Shape 22"/>
          <p:cNvSpPr/>
          <p:nvPr/>
        </p:nvSpPr>
        <p:spPr>
          <a:xfrm>
            <a:off x="6217920" y="4572000"/>
            <a:ext cx="2514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DCE4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25" name="Shape 23"/>
          <p:cNvSpPr/>
          <p:nvPr/>
        </p:nvSpPr>
        <p:spPr>
          <a:xfrm>
            <a:off x="6217920" y="4572000"/>
            <a:ext cx="2514600" cy="109728"/>
          </a:xfrm>
          <a:prstGeom prst="rect">
            <a:avLst/>
          </a:prstGeom>
          <a:solidFill>
            <a:srgbClr val="69B6E6"/>
          </a:solidFill>
          <a:ln w="12700">
            <a:solidFill>
              <a:srgbClr val="69B6E6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26" name="Text 24"/>
          <p:cNvSpPr/>
          <p:nvPr/>
        </p:nvSpPr>
        <p:spPr>
          <a:xfrm>
            <a:off x="6355080" y="4754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9B6E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OAuth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55080" y="5138928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Firebase / Google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961120" y="4572000"/>
            <a:ext cx="2514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29" name="Shape 27"/>
          <p:cNvSpPr/>
          <p:nvPr/>
        </p:nvSpPr>
        <p:spPr>
          <a:xfrm>
            <a:off x="8961120" y="4572000"/>
            <a:ext cx="2514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7DCE4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30" name="Shape 28"/>
          <p:cNvSpPr/>
          <p:nvPr/>
        </p:nvSpPr>
        <p:spPr>
          <a:xfrm>
            <a:off x="8961120" y="4572000"/>
            <a:ext cx="2514600" cy="109728"/>
          </a:xfrm>
          <a:prstGeom prst="rect">
            <a:avLst/>
          </a:prstGeom>
          <a:solidFill>
            <a:srgbClr val="5B8C30"/>
          </a:solidFill>
          <a:ln w="12700">
            <a:solidFill>
              <a:srgbClr val="5B8C30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31" name="Text 29"/>
          <p:cNvSpPr/>
          <p:nvPr/>
        </p:nvSpPr>
        <p:spPr>
          <a:xfrm>
            <a:off x="9098280" y="4754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8C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RBAC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098280" y="5138928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roles + auditoría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31949" cy="82296"/>
          </a:xfrm>
          <a:prstGeom prst="rect">
            <a:avLst/>
          </a:prstGeom>
          <a:solidFill>
            <a:srgbClr val="69B6E6"/>
          </a:solidFill>
          <a:ln w="12700">
            <a:solidFill>
              <a:srgbClr val="69B6E6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3" name="Shape 1"/>
          <p:cNvSpPr/>
          <p:nvPr/>
        </p:nvSpPr>
        <p:spPr>
          <a:xfrm>
            <a:off x="2031949" y="0"/>
            <a:ext cx="2031949" cy="82296"/>
          </a:xfrm>
          <a:prstGeom prst="rect">
            <a:avLst/>
          </a:prstGeom>
          <a:solidFill>
            <a:srgbClr val="1562A2"/>
          </a:solidFill>
          <a:ln w="12700">
            <a:solidFill>
              <a:srgbClr val="1562A2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4" name="Shape 2"/>
          <p:cNvSpPr/>
          <p:nvPr/>
        </p:nvSpPr>
        <p:spPr>
          <a:xfrm>
            <a:off x="4063898" y="0"/>
            <a:ext cx="2031949" cy="82296"/>
          </a:xfrm>
          <a:prstGeom prst="rect">
            <a:avLst/>
          </a:prstGeom>
          <a:solidFill>
            <a:srgbClr val="5B8C30"/>
          </a:solidFill>
          <a:ln w="12700">
            <a:solidFill>
              <a:srgbClr val="5B8C30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5" name="Shape 3"/>
          <p:cNvSpPr/>
          <p:nvPr/>
        </p:nvSpPr>
        <p:spPr>
          <a:xfrm>
            <a:off x="6095848" y="0"/>
            <a:ext cx="2031949" cy="82296"/>
          </a:xfrm>
          <a:prstGeom prst="rect">
            <a:avLst/>
          </a:prstGeom>
          <a:solidFill>
            <a:srgbClr val="EACA29"/>
          </a:solidFill>
          <a:ln w="12700">
            <a:solidFill>
              <a:srgbClr val="EACA29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6" name="Shape 4"/>
          <p:cNvSpPr/>
          <p:nvPr/>
        </p:nvSpPr>
        <p:spPr>
          <a:xfrm>
            <a:off x="8127797" y="0"/>
            <a:ext cx="2031949" cy="82296"/>
          </a:xfrm>
          <a:prstGeom prst="rect">
            <a:avLst/>
          </a:prstGeom>
          <a:solidFill>
            <a:srgbClr val="F3961C"/>
          </a:solidFill>
          <a:ln w="12700">
            <a:solidFill>
              <a:srgbClr val="F3961C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7" name="Shape 5"/>
          <p:cNvSpPr/>
          <p:nvPr/>
        </p:nvSpPr>
        <p:spPr>
          <a:xfrm>
            <a:off x="10159746" y="0"/>
            <a:ext cx="2031949" cy="82296"/>
          </a:xfrm>
          <a:prstGeom prst="rect">
            <a:avLst/>
          </a:prstGeom>
          <a:solidFill>
            <a:srgbClr val="895738"/>
          </a:solidFill>
          <a:ln w="12700">
            <a:solidFill>
              <a:srgbClr val="895738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8" name="Text 6"/>
          <p:cNvSpPr/>
          <p:nvPr/>
        </p:nvSpPr>
        <p:spPr>
          <a:xfrm>
            <a:off x="502920" y="38404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396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AVANCE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562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Resultados y objetivos alcanzados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2920" y="6455664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Wani Connect · Presentación final del proyecto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0" y="645566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15</a:t>
            </a:r>
            <a:endParaRPr lang="en-US" sz="9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640080" y="1600200"/>
          <a:ext cx="694944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Text 10"/>
          <p:cNvSpPr/>
          <p:nvPr/>
        </p:nvSpPr>
        <p:spPr>
          <a:xfrm>
            <a:off x="7863840" y="1828800"/>
            <a:ext cx="38404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200" b="1" dirty="0">
                <a:solidFill>
                  <a:srgbClr val="5B8C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Objetivos general y específicos cumplidos en 90–100%.</a:t>
            </a:r>
            <a:endParaRPr lang="en-US" sz="120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móvil funcional v1.0.0; backend 0.0.1-SNAPSHOT.</a:t>
            </a:r>
            <a:endParaRPr lang="en-US" sz="120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Mapa recortado a la silueta real de Nicaragua para claridad visual.</a:t>
            </a:r>
            <a:endParaRPr lang="en-US" sz="1200" dirty="0"/>
          </a:p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Panel admin operativo con CRUD de eventos y emprendimientos.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31949" cy="82296"/>
          </a:xfrm>
          <a:prstGeom prst="rect">
            <a:avLst/>
          </a:prstGeom>
          <a:solidFill>
            <a:srgbClr val="69B6E6"/>
          </a:solidFill>
          <a:ln w="12700">
            <a:solidFill>
              <a:srgbClr val="69B6E6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3" name="Shape 1"/>
          <p:cNvSpPr/>
          <p:nvPr/>
        </p:nvSpPr>
        <p:spPr>
          <a:xfrm>
            <a:off x="2031949" y="0"/>
            <a:ext cx="2031949" cy="82296"/>
          </a:xfrm>
          <a:prstGeom prst="rect">
            <a:avLst/>
          </a:prstGeom>
          <a:solidFill>
            <a:srgbClr val="1562A2"/>
          </a:solidFill>
          <a:ln w="12700">
            <a:solidFill>
              <a:srgbClr val="1562A2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4" name="Shape 2"/>
          <p:cNvSpPr/>
          <p:nvPr/>
        </p:nvSpPr>
        <p:spPr>
          <a:xfrm>
            <a:off x="4063898" y="0"/>
            <a:ext cx="2031949" cy="82296"/>
          </a:xfrm>
          <a:prstGeom prst="rect">
            <a:avLst/>
          </a:prstGeom>
          <a:solidFill>
            <a:srgbClr val="5B8C30"/>
          </a:solidFill>
          <a:ln w="12700">
            <a:solidFill>
              <a:srgbClr val="5B8C30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5" name="Shape 3"/>
          <p:cNvSpPr/>
          <p:nvPr/>
        </p:nvSpPr>
        <p:spPr>
          <a:xfrm>
            <a:off x="6095848" y="0"/>
            <a:ext cx="2031949" cy="82296"/>
          </a:xfrm>
          <a:prstGeom prst="rect">
            <a:avLst/>
          </a:prstGeom>
          <a:solidFill>
            <a:srgbClr val="EACA29"/>
          </a:solidFill>
          <a:ln w="12700">
            <a:solidFill>
              <a:srgbClr val="EACA29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6" name="Shape 4"/>
          <p:cNvSpPr/>
          <p:nvPr/>
        </p:nvSpPr>
        <p:spPr>
          <a:xfrm>
            <a:off x="8127797" y="0"/>
            <a:ext cx="2031949" cy="82296"/>
          </a:xfrm>
          <a:prstGeom prst="rect">
            <a:avLst/>
          </a:prstGeom>
          <a:solidFill>
            <a:srgbClr val="F3961C"/>
          </a:solidFill>
          <a:ln w="12700">
            <a:solidFill>
              <a:srgbClr val="F3961C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7" name="Shape 5"/>
          <p:cNvSpPr/>
          <p:nvPr/>
        </p:nvSpPr>
        <p:spPr>
          <a:xfrm>
            <a:off x="10159746" y="0"/>
            <a:ext cx="2031949" cy="82296"/>
          </a:xfrm>
          <a:prstGeom prst="rect">
            <a:avLst/>
          </a:prstGeom>
          <a:solidFill>
            <a:srgbClr val="895738"/>
          </a:solidFill>
          <a:ln w="12700">
            <a:solidFill>
              <a:srgbClr val="895738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8" name="Text 6"/>
          <p:cNvSpPr/>
          <p:nvPr/>
        </p:nvSpPr>
        <p:spPr>
          <a:xfrm>
            <a:off x="502920" y="38404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396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ANÁLISIS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562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Dificultades y aprendizajes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2920" y="6455664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Wani Connect · Presentación final del proyecto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0" y="645566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/ 15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68680" y="15544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2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Dificultad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12080" y="15544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96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Aprendizaje / lección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" y="2057400"/>
            <a:ext cx="4160520" cy="713232"/>
          </a:xfrm>
          <a:prstGeom prst="roundRect">
            <a:avLst>
              <a:gd name="adj" fmla="val 10256"/>
            </a:avLst>
          </a:prstGeom>
          <a:solidFill>
            <a:srgbClr val="F3F8FD"/>
          </a:solidFill>
          <a:ln w="12700">
            <a:solidFill>
              <a:srgbClr val="F3F8FD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5" name="Text 13"/>
          <p:cNvSpPr/>
          <p:nvPr/>
        </p:nvSpPr>
        <p:spPr>
          <a:xfrm>
            <a:off x="960120" y="2057400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62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Builds nativos y dependencias de Expo (espacio en disco, EAS)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120640" y="2057400"/>
            <a:ext cx="6172200" cy="713232"/>
          </a:xfrm>
          <a:prstGeom prst="roundRect">
            <a:avLst>
              <a:gd name="adj" fmla="val 10256"/>
            </a:avLst>
          </a:prstGeom>
          <a:solidFill>
            <a:srgbClr val="FFF6E8"/>
          </a:solidFill>
          <a:ln w="12700">
            <a:solidFill>
              <a:srgbClr val="FFF6E8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7" name="Text 15"/>
          <p:cNvSpPr/>
          <p:nvPr/>
        </p:nvSpPr>
        <p:spPr>
          <a:xfrm>
            <a:off x="5303520" y="2057400"/>
            <a:ext cx="5852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Planificar recursos y documentar la instalación paso a paso.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77240" y="2926080"/>
            <a:ext cx="4160520" cy="713232"/>
          </a:xfrm>
          <a:prstGeom prst="roundRect">
            <a:avLst>
              <a:gd name="adj" fmla="val 10256"/>
            </a:avLst>
          </a:prstGeom>
          <a:solidFill>
            <a:srgbClr val="F3F8FD"/>
          </a:solidFill>
          <a:ln w="12700">
            <a:solidFill>
              <a:srgbClr val="F3F8FD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9" name="Text 17"/>
          <p:cNvSpPr/>
          <p:nvPr/>
        </p:nvSpPr>
        <p:spPr>
          <a:xfrm>
            <a:off x="960120" y="2926080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62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Mapas: tiles bajo el recorte real y estabilidad al navegar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120640" y="2926080"/>
            <a:ext cx="6172200" cy="713232"/>
          </a:xfrm>
          <a:prstGeom prst="roundRect">
            <a:avLst>
              <a:gd name="adj" fmla="val 10256"/>
            </a:avLst>
          </a:prstGeom>
          <a:solidFill>
            <a:srgbClr val="FFF6E8"/>
          </a:solidFill>
          <a:ln w="12700">
            <a:solidFill>
              <a:srgbClr val="FFF6E8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21" name="Text 19"/>
          <p:cNvSpPr/>
          <p:nvPr/>
        </p:nvSpPr>
        <p:spPr>
          <a:xfrm>
            <a:off x="5303520" y="2926080"/>
            <a:ext cx="5852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Validar recortes con la frontera oficial del país.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77240" y="3794760"/>
            <a:ext cx="4160520" cy="713232"/>
          </a:xfrm>
          <a:prstGeom prst="roundRect">
            <a:avLst>
              <a:gd name="adj" fmla="val 10256"/>
            </a:avLst>
          </a:prstGeom>
          <a:solidFill>
            <a:srgbClr val="F3F8FD"/>
          </a:solidFill>
          <a:ln w="12700">
            <a:solidFill>
              <a:srgbClr val="F3F8FD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23" name="Text 21"/>
          <p:cNvSpPr/>
          <p:nvPr/>
        </p:nvSpPr>
        <p:spPr>
          <a:xfrm>
            <a:off x="960120" y="3794760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62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OAuth Google multiplataforma (Client IDs web/Android)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120640" y="3794760"/>
            <a:ext cx="6172200" cy="713232"/>
          </a:xfrm>
          <a:prstGeom prst="roundRect">
            <a:avLst>
              <a:gd name="adj" fmla="val 10256"/>
            </a:avLst>
          </a:prstGeom>
          <a:solidFill>
            <a:srgbClr val="FFF6E8"/>
          </a:solidFill>
          <a:ln w="12700">
            <a:solidFill>
              <a:srgbClr val="FFF6E8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25" name="Text 23"/>
          <p:cNvSpPr/>
          <p:nvPr/>
        </p:nvSpPr>
        <p:spPr>
          <a:xfrm>
            <a:off x="5303520" y="3794760"/>
            <a:ext cx="5852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Configurar cada plataforma por separado en Google Cloud.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77240" y="4663440"/>
            <a:ext cx="4160520" cy="713232"/>
          </a:xfrm>
          <a:prstGeom prst="roundRect">
            <a:avLst>
              <a:gd name="adj" fmla="val 10256"/>
            </a:avLst>
          </a:prstGeom>
          <a:solidFill>
            <a:srgbClr val="F3F8FD"/>
          </a:solidFill>
          <a:ln w="12700">
            <a:solidFill>
              <a:srgbClr val="F3F8FD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27" name="Text 25"/>
          <p:cNvSpPr/>
          <p:nvPr/>
        </p:nvSpPr>
        <p:spPr>
          <a:xfrm>
            <a:off x="960120" y="4663440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62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Convenciones mixtas en JPA (snake_case vs PascalCase)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120640" y="4663440"/>
            <a:ext cx="6172200" cy="713232"/>
          </a:xfrm>
          <a:prstGeom prst="roundRect">
            <a:avLst>
              <a:gd name="adj" fmla="val 10256"/>
            </a:avLst>
          </a:prstGeom>
          <a:solidFill>
            <a:srgbClr val="FFF6E8"/>
          </a:solidFill>
          <a:ln w="12700">
            <a:solidFill>
              <a:srgbClr val="FFF6E8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29" name="Text 27"/>
          <p:cNvSpPr/>
          <p:nvPr/>
        </p:nvSpPr>
        <p:spPr>
          <a:xfrm>
            <a:off x="5303520" y="4663440"/>
            <a:ext cx="5852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Definir y unificar estándares antes de escalar.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77240" y="5532120"/>
            <a:ext cx="4160520" cy="713232"/>
          </a:xfrm>
          <a:prstGeom prst="roundRect">
            <a:avLst>
              <a:gd name="adj" fmla="val 10256"/>
            </a:avLst>
          </a:prstGeom>
          <a:solidFill>
            <a:srgbClr val="F3F8FD"/>
          </a:solidFill>
          <a:ln w="12700">
            <a:solidFill>
              <a:srgbClr val="F3F8FD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31" name="Text 29"/>
          <p:cNvSpPr/>
          <p:nvPr/>
        </p:nvSpPr>
        <p:spPr>
          <a:xfrm>
            <a:off x="960120" y="5532120"/>
            <a:ext cx="3840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562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Pruebas iniciales limitadas (smoke + TOTP + sesiones)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120640" y="5532120"/>
            <a:ext cx="6172200" cy="713232"/>
          </a:xfrm>
          <a:prstGeom prst="roundRect">
            <a:avLst>
              <a:gd name="adj" fmla="val 10256"/>
            </a:avLst>
          </a:prstGeom>
          <a:solidFill>
            <a:srgbClr val="FFF6E8"/>
          </a:solidFill>
          <a:ln w="12700">
            <a:solidFill>
              <a:srgbClr val="FFF6E8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33" name="Text 31"/>
          <p:cNvSpPr/>
          <p:nvPr/>
        </p:nvSpPr>
        <p:spPr>
          <a:xfrm>
            <a:off x="5303520" y="5532120"/>
            <a:ext cx="5852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Incorporar pruebas incrementales desde el inicio.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31949" cy="82296"/>
          </a:xfrm>
          <a:prstGeom prst="rect">
            <a:avLst/>
          </a:prstGeom>
          <a:solidFill>
            <a:srgbClr val="69B6E6"/>
          </a:solidFill>
          <a:ln w="12700">
            <a:solidFill>
              <a:srgbClr val="69B6E6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3" name="Shape 1"/>
          <p:cNvSpPr/>
          <p:nvPr/>
        </p:nvSpPr>
        <p:spPr>
          <a:xfrm>
            <a:off x="2031949" y="0"/>
            <a:ext cx="2031949" cy="82296"/>
          </a:xfrm>
          <a:prstGeom prst="rect">
            <a:avLst/>
          </a:prstGeom>
          <a:solidFill>
            <a:srgbClr val="1562A2"/>
          </a:solidFill>
          <a:ln w="12700">
            <a:solidFill>
              <a:srgbClr val="1562A2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4" name="Shape 2"/>
          <p:cNvSpPr/>
          <p:nvPr/>
        </p:nvSpPr>
        <p:spPr>
          <a:xfrm>
            <a:off x="4063898" y="0"/>
            <a:ext cx="2031949" cy="82296"/>
          </a:xfrm>
          <a:prstGeom prst="rect">
            <a:avLst/>
          </a:prstGeom>
          <a:solidFill>
            <a:srgbClr val="5B8C30"/>
          </a:solidFill>
          <a:ln w="12700">
            <a:solidFill>
              <a:srgbClr val="5B8C30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5" name="Shape 3"/>
          <p:cNvSpPr/>
          <p:nvPr/>
        </p:nvSpPr>
        <p:spPr>
          <a:xfrm>
            <a:off x="6095848" y="0"/>
            <a:ext cx="2031949" cy="82296"/>
          </a:xfrm>
          <a:prstGeom prst="rect">
            <a:avLst/>
          </a:prstGeom>
          <a:solidFill>
            <a:srgbClr val="EACA29"/>
          </a:solidFill>
          <a:ln w="12700">
            <a:solidFill>
              <a:srgbClr val="EACA29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6" name="Shape 4"/>
          <p:cNvSpPr/>
          <p:nvPr/>
        </p:nvSpPr>
        <p:spPr>
          <a:xfrm>
            <a:off x="8127797" y="0"/>
            <a:ext cx="2031949" cy="82296"/>
          </a:xfrm>
          <a:prstGeom prst="rect">
            <a:avLst/>
          </a:prstGeom>
          <a:solidFill>
            <a:srgbClr val="F3961C"/>
          </a:solidFill>
          <a:ln w="12700">
            <a:solidFill>
              <a:srgbClr val="F3961C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7" name="Shape 5"/>
          <p:cNvSpPr/>
          <p:nvPr/>
        </p:nvSpPr>
        <p:spPr>
          <a:xfrm>
            <a:off x="10159746" y="0"/>
            <a:ext cx="2031949" cy="82296"/>
          </a:xfrm>
          <a:prstGeom prst="rect">
            <a:avLst/>
          </a:prstGeom>
          <a:solidFill>
            <a:srgbClr val="895738"/>
          </a:solidFill>
          <a:ln w="12700">
            <a:solidFill>
              <a:srgbClr val="895738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8" name="Text 6"/>
          <p:cNvSpPr/>
          <p:nvPr/>
        </p:nvSpPr>
        <p:spPr>
          <a:xfrm>
            <a:off x="502920" y="384048"/>
            <a:ext cx="10789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396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562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Trabajo futuro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2920" y="6455664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Wani Connect · Presentación final del proyecto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0" y="645566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/ 15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77240" y="1645920"/>
            <a:ext cx="91440" cy="777240"/>
          </a:xfrm>
          <a:prstGeom prst="roundRect">
            <a:avLst/>
          </a:prstGeom>
          <a:solidFill>
            <a:srgbClr val="69B6E6"/>
          </a:solidFill>
          <a:ln w="12700">
            <a:solidFill>
              <a:srgbClr val="69B6E6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3" name="Shape 11"/>
          <p:cNvSpPr/>
          <p:nvPr/>
        </p:nvSpPr>
        <p:spPr>
          <a:xfrm>
            <a:off x="960120" y="1645920"/>
            <a:ext cx="10424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4" name="Shape 12"/>
          <p:cNvSpPr/>
          <p:nvPr/>
        </p:nvSpPr>
        <p:spPr>
          <a:xfrm>
            <a:off x="960120" y="1645920"/>
            <a:ext cx="10424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DCE4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5" name="Text 13"/>
          <p:cNvSpPr/>
          <p:nvPr/>
        </p:nvSpPr>
        <p:spPr>
          <a:xfrm>
            <a:off x="1188720" y="164592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2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CI/CD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023360" y="1645920"/>
            <a:ext cx="7132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Actions: build backend + build EAS y despliegue Docker/Render.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2606040"/>
            <a:ext cx="91440" cy="777240"/>
          </a:xfrm>
          <a:prstGeom prst="roundRect">
            <a:avLst/>
          </a:prstGeom>
          <a:solidFill>
            <a:srgbClr val="1562A2"/>
          </a:solidFill>
          <a:ln w="12700">
            <a:solidFill>
              <a:srgbClr val="1562A2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8" name="Shape 16"/>
          <p:cNvSpPr/>
          <p:nvPr/>
        </p:nvSpPr>
        <p:spPr>
          <a:xfrm>
            <a:off x="960120" y="2606040"/>
            <a:ext cx="10424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9" name="Shape 17"/>
          <p:cNvSpPr/>
          <p:nvPr/>
        </p:nvSpPr>
        <p:spPr>
          <a:xfrm>
            <a:off x="960120" y="2606040"/>
            <a:ext cx="10424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DCE4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20" name="Text 18"/>
          <p:cNvSpPr/>
          <p:nvPr/>
        </p:nvSpPr>
        <p:spPr>
          <a:xfrm>
            <a:off x="1188720" y="26060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2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Tiendas y escritorio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023360" y="2606040"/>
            <a:ext cx="7132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Publicación en Google Play/App Store y versión de escritorio.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7240" y="3566160"/>
            <a:ext cx="91440" cy="777240"/>
          </a:xfrm>
          <a:prstGeom prst="roundRect">
            <a:avLst/>
          </a:prstGeom>
          <a:solidFill>
            <a:srgbClr val="5B8C30"/>
          </a:solidFill>
          <a:ln w="12700">
            <a:solidFill>
              <a:srgbClr val="5B8C30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23" name="Shape 21"/>
          <p:cNvSpPr/>
          <p:nvPr/>
        </p:nvSpPr>
        <p:spPr>
          <a:xfrm>
            <a:off x="960120" y="3566160"/>
            <a:ext cx="10424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24" name="Shape 22"/>
          <p:cNvSpPr/>
          <p:nvPr/>
        </p:nvSpPr>
        <p:spPr>
          <a:xfrm>
            <a:off x="960120" y="3566160"/>
            <a:ext cx="10424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DCE4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25" name="Text 23"/>
          <p:cNvSpPr/>
          <p:nvPr/>
        </p:nvSpPr>
        <p:spPr>
          <a:xfrm>
            <a:off x="1188720" y="356616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2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Contenido y moderación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023360" y="3566160"/>
            <a:ext cx="7132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Moderación de la comunidad y datos abiertos de emprendimientos.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77240" y="4526280"/>
            <a:ext cx="91440" cy="777240"/>
          </a:xfrm>
          <a:prstGeom prst="roundRect">
            <a:avLst/>
          </a:prstGeom>
          <a:solidFill>
            <a:srgbClr val="EACA29"/>
          </a:solidFill>
          <a:ln w="12700">
            <a:solidFill>
              <a:srgbClr val="EACA29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28" name="Shape 26"/>
          <p:cNvSpPr/>
          <p:nvPr/>
        </p:nvSpPr>
        <p:spPr>
          <a:xfrm>
            <a:off x="960120" y="4526280"/>
            <a:ext cx="10424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29" name="Shape 27"/>
          <p:cNvSpPr/>
          <p:nvPr/>
        </p:nvSpPr>
        <p:spPr>
          <a:xfrm>
            <a:off x="960120" y="4526280"/>
            <a:ext cx="104241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7DCE4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30" name="Text 28"/>
          <p:cNvSpPr/>
          <p:nvPr/>
        </p:nvSpPr>
        <p:spPr>
          <a:xfrm>
            <a:off x="1188720" y="45262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2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Escalado del modelo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023360" y="4526280"/>
            <a:ext cx="7132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D2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Más Ciudades Creativas, marketplace y métricas de uso (dashboard).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31949" cy="82296"/>
          </a:xfrm>
          <a:prstGeom prst="rect">
            <a:avLst/>
          </a:prstGeom>
          <a:solidFill>
            <a:srgbClr val="69B6E6"/>
          </a:solidFill>
          <a:ln w="12700">
            <a:solidFill>
              <a:srgbClr val="69B6E6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3" name="Shape 1"/>
          <p:cNvSpPr/>
          <p:nvPr/>
        </p:nvSpPr>
        <p:spPr>
          <a:xfrm>
            <a:off x="2031949" y="0"/>
            <a:ext cx="2031949" cy="82296"/>
          </a:xfrm>
          <a:prstGeom prst="rect">
            <a:avLst/>
          </a:prstGeom>
          <a:solidFill>
            <a:srgbClr val="1562A2"/>
          </a:solidFill>
          <a:ln w="12700">
            <a:solidFill>
              <a:srgbClr val="1562A2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4" name="Shape 2"/>
          <p:cNvSpPr/>
          <p:nvPr/>
        </p:nvSpPr>
        <p:spPr>
          <a:xfrm>
            <a:off x="4063898" y="0"/>
            <a:ext cx="2031949" cy="82296"/>
          </a:xfrm>
          <a:prstGeom prst="rect">
            <a:avLst/>
          </a:prstGeom>
          <a:solidFill>
            <a:srgbClr val="5B8C30"/>
          </a:solidFill>
          <a:ln w="12700">
            <a:solidFill>
              <a:srgbClr val="5B8C30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5" name="Shape 3"/>
          <p:cNvSpPr/>
          <p:nvPr/>
        </p:nvSpPr>
        <p:spPr>
          <a:xfrm>
            <a:off x="6095848" y="0"/>
            <a:ext cx="2031949" cy="82296"/>
          </a:xfrm>
          <a:prstGeom prst="rect">
            <a:avLst/>
          </a:prstGeom>
          <a:solidFill>
            <a:srgbClr val="EACA29"/>
          </a:solidFill>
          <a:ln w="12700">
            <a:solidFill>
              <a:srgbClr val="EACA29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6" name="Shape 4"/>
          <p:cNvSpPr/>
          <p:nvPr/>
        </p:nvSpPr>
        <p:spPr>
          <a:xfrm>
            <a:off x="8127797" y="0"/>
            <a:ext cx="2031949" cy="82296"/>
          </a:xfrm>
          <a:prstGeom prst="rect">
            <a:avLst/>
          </a:prstGeom>
          <a:solidFill>
            <a:srgbClr val="F3961C"/>
          </a:solidFill>
          <a:ln w="12700">
            <a:solidFill>
              <a:srgbClr val="F3961C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7" name="Shape 5"/>
          <p:cNvSpPr/>
          <p:nvPr/>
        </p:nvSpPr>
        <p:spPr>
          <a:xfrm>
            <a:off x="10159746" y="0"/>
            <a:ext cx="2031949" cy="82296"/>
          </a:xfrm>
          <a:prstGeom prst="rect">
            <a:avLst/>
          </a:prstGeom>
          <a:solidFill>
            <a:srgbClr val="895738"/>
          </a:solidFill>
          <a:ln w="12700">
            <a:solidFill>
              <a:srgbClr val="895738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8" name="Shape 6"/>
          <p:cNvSpPr/>
          <p:nvPr/>
        </p:nvSpPr>
        <p:spPr>
          <a:xfrm>
            <a:off x="0" y="82296"/>
            <a:ext cx="12191695" cy="6775704"/>
          </a:xfrm>
          <a:prstGeom prst="roundRect">
            <a:avLst>
              <a:gd name="adj" fmla="val 810"/>
            </a:avLst>
          </a:prstGeom>
          <a:solidFill>
            <a:srgbClr val="0F2E4C"/>
          </a:solidFill>
          <a:ln w="12700">
            <a:solidFill>
              <a:srgbClr val="0F2E4C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9" name="Shape 7"/>
          <p:cNvSpPr/>
          <p:nvPr/>
        </p:nvSpPr>
        <p:spPr>
          <a:xfrm>
            <a:off x="-1645920" y="4023360"/>
            <a:ext cx="4937760" cy="4937760"/>
          </a:xfrm>
          <a:prstGeom prst="ellipse">
            <a:avLst/>
          </a:prstGeom>
          <a:solidFill>
            <a:srgbClr val="1562A2">
              <a:alpha val="40000"/>
            </a:srgbClr>
          </a:solidFill>
          <a:ln w="12700">
            <a:solidFill>
              <a:srgbClr val="1562A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0" name="Shape 8"/>
          <p:cNvSpPr/>
          <p:nvPr/>
        </p:nvSpPr>
        <p:spPr>
          <a:xfrm>
            <a:off x="9692640" y="-1737360"/>
            <a:ext cx="4572000" cy="4572000"/>
          </a:xfrm>
          <a:prstGeom prst="ellipse">
            <a:avLst/>
          </a:prstGeom>
          <a:solidFill>
            <a:srgbClr val="69B6E6">
              <a:alpha val="20000"/>
            </a:srgbClr>
          </a:solidFill>
          <a:ln w="12700">
            <a:solidFill>
              <a:srgbClr val="69B6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1" name="Text 9"/>
          <p:cNvSpPr/>
          <p:nvPr/>
        </p:nvSpPr>
        <p:spPr>
          <a:xfrm>
            <a:off x="914400" y="2048256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Muchas gracias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914400" y="3090672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EACA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“Wani Connect: todo el país en tus manos.”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4400" y="3986784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9FB0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Stallions · Eduard8813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9FB0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Proyecto de cierre · Sustentación final</a:t>
            </a:r>
            <a:endParaRPr lang="en-US" sz="13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300" dirty="0">
                <a:solidFill>
                  <a:srgbClr val="9FB0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DOC-001.8 Presentación final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6455664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Wani Connect · Presentación final del proyecto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789920" y="6455664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/ 15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2041093" cy="320040"/>
          </a:xfrm>
          <a:prstGeom prst="rect">
            <a:avLst/>
          </a:prstGeom>
          <a:solidFill>
            <a:srgbClr val="69B6E6"/>
          </a:solidFill>
          <a:ln w="12700">
            <a:solidFill>
              <a:srgbClr val="69B6E6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8" name="Shape 16"/>
          <p:cNvSpPr/>
          <p:nvPr/>
        </p:nvSpPr>
        <p:spPr>
          <a:xfrm>
            <a:off x="2031949" y="6537960"/>
            <a:ext cx="2041093" cy="320040"/>
          </a:xfrm>
          <a:prstGeom prst="rect">
            <a:avLst/>
          </a:prstGeom>
          <a:solidFill>
            <a:srgbClr val="1562A2"/>
          </a:solidFill>
          <a:ln w="12700">
            <a:solidFill>
              <a:srgbClr val="1562A2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19" name="Shape 17"/>
          <p:cNvSpPr/>
          <p:nvPr/>
        </p:nvSpPr>
        <p:spPr>
          <a:xfrm>
            <a:off x="4063898" y="6537960"/>
            <a:ext cx="2041093" cy="320040"/>
          </a:xfrm>
          <a:prstGeom prst="rect">
            <a:avLst/>
          </a:prstGeom>
          <a:solidFill>
            <a:srgbClr val="5B8C30"/>
          </a:solidFill>
          <a:ln w="12700">
            <a:solidFill>
              <a:srgbClr val="5B8C30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20" name="Shape 18"/>
          <p:cNvSpPr/>
          <p:nvPr/>
        </p:nvSpPr>
        <p:spPr>
          <a:xfrm>
            <a:off x="6095848" y="6537960"/>
            <a:ext cx="2041093" cy="320040"/>
          </a:xfrm>
          <a:prstGeom prst="rect">
            <a:avLst/>
          </a:prstGeom>
          <a:solidFill>
            <a:srgbClr val="EACA29"/>
          </a:solidFill>
          <a:ln w="12700">
            <a:solidFill>
              <a:srgbClr val="EACA29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21" name="Shape 19"/>
          <p:cNvSpPr/>
          <p:nvPr/>
        </p:nvSpPr>
        <p:spPr>
          <a:xfrm>
            <a:off x="8127797" y="6537960"/>
            <a:ext cx="2041093" cy="320040"/>
          </a:xfrm>
          <a:prstGeom prst="rect">
            <a:avLst/>
          </a:prstGeom>
          <a:solidFill>
            <a:srgbClr val="F3961C"/>
          </a:solidFill>
          <a:ln w="12700">
            <a:solidFill>
              <a:srgbClr val="F3961C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  <p:sp>
        <p:nvSpPr>
          <p:cNvPr id="22" name="Shape 20"/>
          <p:cNvSpPr/>
          <p:nvPr/>
        </p:nvSpPr>
        <p:spPr>
          <a:xfrm>
            <a:off x="10159746" y="6537960"/>
            <a:ext cx="2041093" cy="320040"/>
          </a:xfrm>
          <a:prstGeom prst="rect">
            <a:avLst/>
          </a:prstGeom>
          <a:solidFill>
            <a:srgbClr val="895738"/>
          </a:solidFill>
          <a:ln w="12700">
            <a:solidFill>
              <a:srgbClr val="895738"/>
            </a:solidFill>
            <a:prstDash val="solid"/>
          </a:ln>
        </p:spPr>
        <p:txBody>
          <a:bodyPr/>
          <a:lstStyle/>
          <a:p>
            <a:endParaRPr lang="es-NI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1295</Words>
  <Application>Microsoft Office PowerPoint</Application>
  <PresentationFormat>Panorámica</PresentationFormat>
  <Paragraphs>206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Segoe UI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Eduard Mora</cp:lastModifiedBy>
  <cp:revision>18</cp:revision>
  <dcterms:created xsi:type="dcterms:W3CDTF">2026-09-06T06:29:54Z</dcterms:created>
  <dcterms:modified xsi:type="dcterms:W3CDTF">2026-09-06T07:47:23Z</dcterms:modified>
</cp:coreProperties>
</file>